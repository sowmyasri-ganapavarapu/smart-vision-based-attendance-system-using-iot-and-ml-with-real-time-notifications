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58" r:id="rId3"/>
    <p:sldId id="259" r:id="rId4"/>
    <p:sldId id="262" r:id="rId5"/>
    <p:sldId id="260" r:id="rId6"/>
    <p:sldId id="277" r:id="rId7"/>
    <p:sldId id="268" r:id="rId8"/>
    <p:sldId id="270" r:id="rId9"/>
    <p:sldId id="276" r:id="rId10"/>
    <p:sldId id="286" r:id="rId11"/>
    <p:sldId id="289" r:id="rId12"/>
    <p:sldId id="290" r:id="rId13"/>
    <p:sldId id="279" r:id="rId14"/>
    <p:sldId id="280" r:id="rId15"/>
    <p:sldId id="281" r:id="rId16"/>
    <p:sldId id="282" r:id="rId17"/>
    <p:sldId id="283" r:id="rId18"/>
    <p:sldId id="288" r:id="rId19"/>
    <p:sldId id="278" r:id="rId20"/>
    <p:sldId id="274" r:id="rId21"/>
    <p:sldId id="287" r:id="rId22"/>
    <p:sldId id="284" r:id="rId23"/>
    <p:sldId id="27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3E5F392E-4714-4BDA-A548-2491F900B314}">
          <p14:sldIdLst>
            <p14:sldId id="257"/>
            <p14:sldId id="258"/>
            <p14:sldId id="259"/>
            <p14:sldId id="262"/>
            <p14:sldId id="260"/>
            <p14:sldId id="277"/>
            <p14:sldId id="268"/>
            <p14:sldId id="270"/>
            <p14:sldId id="276"/>
            <p14:sldId id="286"/>
            <p14:sldId id="289"/>
            <p14:sldId id="290"/>
            <p14:sldId id="279"/>
            <p14:sldId id="280"/>
            <p14:sldId id="281"/>
            <p14:sldId id="282"/>
            <p14:sldId id="283"/>
            <p14:sldId id="288"/>
            <p14:sldId id="278"/>
            <p14:sldId id="274"/>
            <p14:sldId id="287"/>
            <p14:sldId id="284"/>
            <p14:sldId id="275"/>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248FA1-AE6A-41CA-A9B1-B2F31796BEA7}" v="10" dt="2026-02-25T05:19:37.3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56" autoAdjust="0"/>
  </p:normalViewPr>
  <p:slideViewPr>
    <p:cSldViewPr snapToGrid="0">
      <p:cViewPr varScale="1">
        <p:scale>
          <a:sx n="77" d="100"/>
          <a:sy n="77" d="100"/>
        </p:scale>
        <p:origin x="77"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wmya sri ganapavarapu" userId="38e99f860b9688ab" providerId="LiveId" clId="{06017638-C832-4A0B-9C7C-1B64FDED5354}"/>
    <pc:docChg chg="undo custSel modSld">
      <pc:chgData name="Sowmya sri ganapavarapu" userId="38e99f860b9688ab" providerId="LiveId" clId="{06017638-C832-4A0B-9C7C-1B64FDED5354}" dt="2026-02-25T05:23:43.810" v="432" actId="20577"/>
      <pc:docMkLst>
        <pc:docMk/>
      </pc:docMkLst>
      <pc:sldChg chg="modSp mod">
        <pc:chgData name="Sowmya sri ganapavarapu" userId="38e99f860b9688ab" providerId="LiveId" clId="{06017638-C832-4A0B-9C7C-1B64FDED5354}" dt="2026-02-25T05:22:34.475" v="427" actId="14100"/>
        <pc:sldMkLst>
          <pc:docMk/>
          <pc:sldMk cId="1642961999" sldId="258"/>
        </pc:sldMkLst>
        <pc:spChg chg="mod">
          <ac:chgData name="Sowmya sri ganapavarapu" userId="38e99f860b9688ab" providerId="LiveId" clId="{06017638-C832-4A0B-9C7C-1B64FDED5354}" dt="2026-02-25T05:22:34.475" v="427" actId="14100"/>
          <ac:spMkLst>
            <pc:docMk/>
            <pc:sldMk cId="1642961999" sldId="258"/>
            <ac:spMk id="5" creationId="{F18DF5B8-AFF0-1E05-2BF5-1AEB5C218F6D}"/>
          </ac:spMkLst>
        </pc:spChg>
      </pc:sldChg>
      <pc:sldChg chg="modSp mod">
        <pc:chgData name="Sowmya sri ganapavarapu" userId="38e99f860b9688ab" providerId="LiveId" clId="{06017638-C832-4A0B-9C7C-1B64FDED5354}" dt="2026-02-25T05:23:43.810" v="432" actId="20577"/>
        <pc:sldMkLst>
          <pc:docMk/>
          <pc:sldMk cId="615894977" sldId="278"/>
        </pc:sldMkLst>
        <pc:spChg chg="mod">
          <ac:chgData name="Sowmya sri ganapavarapu" userId="38e99f860b9688ab" providerId="LiveId" clId="{06017638-C832-4A0B-9C7C-1B64FDED5354}" dt="2026-02-25T05:23:43.810" v="432" actId="20577"/>
          <ac:spMkLst>
            <pc:docMk/>
            <pc:sldMk cId="615894977" sldId="278"/>
            <ac:spMk id="3" creationId="{97844FD9-08EE-19AA-53F6-62C9154DAA13}"/>
          </ac:spMkLst>
        </pc:spChg>
      </pc:sldChg>
      <pc:sldChg chg="addSp delSp modSp mod">
        <pc:chgData name="Sowmya sri ganapavarapu" userId="38e99f860b9688ab" providerId="LiveId" clId="{06017638-C832-4A0B-9C7C-1B64FDED5354}" dt="2026-02-25T04:26:33.668" v="10" actId="1076"/>
        <pc:sldMkLst>
          <pc:docMk/>
          <pc:sldMk cId="3942331561" sldId="283"/>
        </pc:sldMkLst>
        <pc:spChg chg="add del">
          <ac:chgData name="Sowmya sri ganapavarapu" userId="38e99f860b9688ab" providerId="LiveId" clId="{06017638-C832-4A0B-9C7C-1B64FDED5354}" dt="2026-02-25T04:25:42.955" v="2" actId="21"/>
          <ac:spMkLst>
            <pc:docMk/>
            <pc:sldMk cId="3942331561" sldId="283"/>
            <ac:spMk id="13" creationId="{2389A494-F9B4-4452-FE01-0CCA99D6CA27}"/>
          </ac:spMkLst>
        </pc:spChg>
        <pc:picChg chg="del">
          <ac:chgData name="Sowmya sri ganapavarapu" userId="38e99f860b9688ab" providerId="LiveId" clId="{06017638-C832-4A0B-9C7C-1B64FDED5354}" dt="2026-02-25T04:25:30.974" v="0" actId="21"/>
          <ac:picMkLst>
            <pc:docMk/>
            <pc:sldMk cId="3942331561" sldId="283"/>
            <ac:picMk id="10" creationId="{3079438A-CCC4-0B0F-474E-EBDC9D6785F0}"/>
          </ac:picMkLst>
        </pc:picChg>
        <pc:picChg chg="add mod modCrop">
          <ac:chgData name="Sowmya sri ganapavarapu" userId="38e99f860b9688ab" providerId="LiveId" clId="{06017638-C832-4A0B-9C7C-1B64FDED5354}" dt="2026-02-25T04:26:33.668" v="10" actId="1076"/>
          <ac:picMkLst>
            <pc:docMk/>
            <pc:sldMk cId="3942331561" sldId="283"/>
            <ac:picMk id="15" creationId="{8BF65584-D176-1205-223D-31134C010941}"/>
          </ac:picMkLst>
        </pc:picChg>
      </pc:sldChg>
      <pc:sldChg chg="addSp delSp modSp mod">
        <pc:chgData name="Sowmya sri ganapavarapu" userId="38e99f860b9688ab" providerId="LiveId" clId="{06017638-C832-4A0B-9C7C-1B64FDED5354}" dt="2026-02-25T05:20:47.317" v="257" actId="14100"/>
        <pc:sldMkLst>
          <pc:docMk/>
          <pc:sldMk cId="198032457" sldId="287"/>
        </pc:sldMkLst>
        <pc:spChg chg="mod">
          <ac:chgData name="Sowmya sri ganapavarapu" userId="38e99f860b9688ab" providerId="LiveId" clId="{06017638-C832-4A0B-9C7C-1B64FDED5354}" dt="2026-02-25T04:28:52.537" v="88" actId="20577"/>
          <ac:spMkLst>
            <pc:docMk/>
            <pc:sldMk cId="198032457" sldId="287"/>
            <ac:spMk id="2" creationId="{E4D8FD96-A12B-1BF8-10CA-F242FC5C6BDE}"/>
          </ac:spMkLst>
        </pc:spChg>
        <pc:spChg chg="add del mod">
          <ac:chgData name="Sowmya sri ganapavarapu" userId="38e99f860b9688ab" providerId="LiveId" clId="{06017638-C832-4A0B-9C7C-1B64FDED5354}" dt="2026-02-25T04:31:47.785" v="96" actId="20577"/>
          <ac:spMkLst>
            <pc:docMk/>
            <pc:sldMk cId="198032457" sldId="287"/>
            <ac:spMk id="3" creationId="{B0650A3C-2133-75BC-F3CD-3EDD2A008E0B}"/>
          </ac:spMkLst>
        </pc:spChg>
        <pc:spChg chg="add mod">
          <ac:chgData name="Sowmya sri ganapavarapu" userId="38e99f860b9688ab" providerId="LiveId" clId="{06017638-C832-4A0B-9C7C-1B64FDED5354}" dt="2026-02-25T05:20:47.317" v="257" actId="14100"/>
          <ac:spMkLst>
            <pc:docMk/>
            <pc:sldMk cId="198032457" sldId="287"/>
            <ac:spMk id="6" creationId="{FFE7C71A-ABF0-35F7-1D3A-ED775082429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FAFEF8-6602-4E56-B92A-658A16588C25}" type="datetimeFigureOut">
              <a:rPr lang="en-IN" smtClean="0"/>
              <a:t>25-02-2026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83DFFC-0102-4797-AF4B-D4506D84A509}" type="slidenum">
              <a:rPr lang="en-IN" smtClean="0"/>
              <a:t>‹#›</a:t>
            </a:fld>
            <a:endParaRPr lang="en-IN"/>
          </a:p>
        </p:txBody>
      </p:sp>
    </p:spTree>
    <p:extLst>
      <p:ext uri="{BB962C8B-B14F-4D97-AF65-F5344CB8AC3E}">
        <p14:creationId xmlns:p14="http://schemas.microsoft.com/office/powerpoint/2010/main" val="3743468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83DFFC-0102-4797-AF4B-D4506D84A509}" type="slidenum">
              <a:rPr lang="en-IN" smtClean="0"/>
              <a:t>1</a:t>
            </a:fld>
            <a:endParaRPr lang="en-IN"/>
          </a:p>
        </p:txBody>
      </p:sp>
    </p:spTree>
    <p:extLst>
      <p:ext uri="{BB962C8B-B14F-4D97-AF65-F5344CB8AC3E}">
        <p14:creationId xmlns:p14="http://schemas.microsoft.com/office/powerpoint/2010/main" val="2871832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83DFFC-0102-4797-AF4B-D4506D84A509}" type="slidenum">
              <a:rPr lang="en-IN" smtClean="0"/>
              <a:t>2</a:t>
            </a:fld>
            <a:endParaRPr lang="en-IN"/>
          </a:p>
        </p:txBody>
      </p:sp>
    </p:spTree>
    <p:extLst>
      <p:ext uri="{BB962C8B-B14F-4D97-AF65-F5344CB8AC3E}">
        <p14:creationId xmlns:p14="http://schemas.microsoft.com/office/powerpoint/2010/main" val="4281522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83DFFC-0102-4797-AF4B-D4506D84A509}" type="slidenum">
              <a:rPr lang="en-IN" smtClean="0"/>
              <a:t>3</a:t>
            </a:fld>
            <a:endParaRPr lang="en-IN"/>
          </a:p>
        </p:txBody>
      </p:sp>
    </p:spTree>
    <p:extLst>
      <p:ext uri="{BB962C8B-B14F-4D97-AF65-F5344CB8AC3E}">
        <p14:creationId xmlns:p14="http://schemas.microsoft.com/office/powerpoint/2010/main" val="1257561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83DFFC-0102-4797-AF4B-D4506D84A509}" type="slidenum">
              <a:rPr lang="en-IN" smtClean="0"/>
              <a:t>5</a:t>
            </a:fld>
            <a:endParaRPr lang="en-IN"/>
          </a:p>
        </p:txBody>
      </p:sp>
    </p:spTree>
    <p:extLst>
      <p:ext uri="{BB962C8B-B14F-4D97-AF65-F5344CB8AC3E}">
        <p14:creationId xmlns:p14="http://schemas.microsoft.com/office/powerpoint/2010/main" val="3251051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83DFFC-0102-4797-AF4B-D4506D84A509}" type="slidenum">
              <a:rPr lang="en-IN" smtClean="0"/>
              <a:t>6</a:t>
            </a:fld>
            <a:endParaRPr lang="en-IN"/>
          </a:p>
        </p:txBody>
      </p:sp>
    </p:spTree>
    <p:extLst>
      <p:ext uri="{BB962C8B-B14F-4D97-AF65-F5344CB8AC3E}">
        <p14:creationId xmlns:p14="http://schemas.microsoft.com/office/powerpoint/2010/main" val="1835972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83DFFC-0102-4797-AF4B-D4506D84A509}" type="slidenum">
              <a:rPr lang="en-IN" smtClean="0"/>
              <a:t>7</a:t>
            </a:fld>
            <a:endParaRPr lang="en-IN"/>
          </a:p>
        </p:txBody>
      </p:sp>
    </p:spTree>
    <p:extLst>
      <p:ext uri="{BB962C8B-B14F-4D97-AF65-F5344CB8AC3E}">
        <p14:creationId xmlns:p14="http://schemas.microsoft.com/office/powerpoint/2010/main" val="1674061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83DFFC-0102-4797-AF4B-D4506D84A509}" type="slidenum">
              <a:rPr lang="en-IN" smtClean="0"/>
              <a:t>8</a:t>
            </a:fld>
            <a:endParaRPr lang="en-IN"/>
          </a:p>
        </p:txBody>
      </p:sp>
    </p:spTree>
    <p:extLst>
      <p:ext uri="{BB962C8B-B14F-4D97-AF65-F5344CB8AC3E}">
        <p14:creationId xmlns:p14="http://schemas.microsoft.com/office/powerpoint/2010/main" val="740042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83DFFC-0102-4797-AF4B-D4506D84A509}" type="slidenum">
              <a:rPr lang="en-IN" smtClean="0"/>
              <a:t>9</a:t>
            </a:fld>
            <a:endParaRPr lang="en-IN"/>
          </a:p>
        </p:txBody>
      </p:sp>
    </p:spTree>
    <p:extLst>
      <p:ext uri="{BB962C8B-B14F-4D97-AF65-F5344CB8AC3E}">
        <p14:creationId xmlns:p14="http://schemas.microsoft.com/office/powerpoint/2010/main" val="2413534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83DFFC-0102-4797-AF4B-D4506D84A509}" type="slidenum">
              <a:rPr lang="en-IN" smtClean="0"/>
              <a:t>12</a:t>
            </a:fld>
            <a:endParaRPr lang="en-IN"/>
          </a:p>
        </p:txBody>
      </p:sp>
    </p:spTree>
    <p:extLst>
      <p:ext uri="{BB962C8B-B14F-4D97-AF65-F5344CB8AC3E}">
        <p14:creationId xmlns:p14="http://schemas.microsoft.com/office/powerpoint/2010/main" val="25474178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83DFFC-0102-4797-AF4B-D4506D84A509}" type="slidenum">
              <a:rPr lang="en-IN" smtClean="0"/>
              <a:t>17</a:t>
            </a:fld>
            <a:endParaRPr lang="en-IN"/>
          </a:p>
        </p:txBody>
      </p:sp>
    </p:spTree>
    <p:extLst>
      <p:ext uri="{BB962C8B-B14F-4D97-AF65-F5344CB8AC3E}">
        <p14:creationId xmlns:p14="http://schemas.microsoft.com/office/powerpoint/2010/main" val="14477146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83DFFC-0102-4797-AF4B-D4506D84A509}" type="slidenum">
              <a:rPr lang="en-IN" smtClean="0"/>
              <a:t>20</a:t>
            </a:fld>
            <a:endParaRPr lang="en-IN"/>
          </a:p>
        </p:txBody>
      </p:sp>
    </p:spTree>
    <p:extLst>
      <p:ext uri="{BB962C8B-B14F-4D97-AF65-F5344CB8AC3E}">
        <p14:creationId xmlns:p14="http://schemas.microsoft.com/office/powerpoint/2010/main" val="562458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A1826-1B3E-4E2E-8D6C-93BCEAA3D6C6}"/>
              </a:ext>
            </a:extLst>
          </p:cNvPr>
          <p:cNvSpPr>
            <a:spLocks noGrp="1"/>
          </p:cNvSpPr>
          <p:nvPr>
            <p:ph type="ctrTitle"/>
          </p:nvPr>
        </p:nvSpPr>
        <p:spPr>
          <a:xfrm>
            <a:off x="2107200" y="1096965"/>
            <a:ext cx="7977600" cy="2085696"/>
          </a:xfrm>
        </p:spPr>
        <p:txBody>
          <a:bodyPr anchor="b">
            <a:norm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AB5F0CE-1714-4650-9690-5676C06349A0}"/>
              </a:ext>
            </a:extLst>
          </p:cNvPr>
          <p:cNvSpPr>
            <a:spLocks noGrp="1"/>
          </p:cNvSpPr>
          <p:nvPr>
            <p:ph type="subTitle" idx="1"/>
          </p:nvPr>
        </p:nvSpPr>
        <p:spPr>
          <a:xfrm>
            <a:off x="3216000" y="3945771"/>
            <a:ext cx="5760000" cy="1832730"/>
          </a:xfrm>
        </p:spPr>
        <p:txBody>
          <a:bodyPr>
            <a:normAutofit/>
          </a:bodyPr>
          <a:lstStyle>
            <a:lvl1pPr marL="0" indent="0" algn="ctr">
              <a:lnSpc>
                <a:spcPct val="125000"/>
              </a:lnSpc>
              <a:buNone/>
              <a:defRPr sz="2400" i="0" spc="5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FD0CA85-BF38-4762-934C-D00F2047C2D1}"/>
              </a:ext>
            </a:extLst>
          </p:cNvPr>
          <p:cNvSpPr>
            <a:spLocks noGrp="1"/>
          </p:cNvSpPr>
          <p:nvPr>
            <p:ph type="dt" sz="half" idx="10"/>
          </p:nvPr>
        </p:nvSpPr>
        <p:spPr/>
        <p:txBody>
          <a:bodyPr/>
          <a:lstStyle/>
          <a:p>
            <a:fld id="{4EC743F4-8769-40B4-85DF-6CB8DE9F66AA}" type="datetimeFigureOut">
              <a:rPr lang="en-US" smtClean="0"/>
              <a:t>2/25/2026</a:t>
            </a:fld>
            <a:endParaRPr lang="en-US"/>
          </a:p>
        </p:txBody>
      </p:sp>
      <p:sp>
        <p:nvSpPr>
          <p:cNvPr id="5" name="Footer Placeholder 4">
            <a:extLst>
              <a:ext uri="{FF2B5EF4-FFF2-40B4-BE49-F238E27FC236}">
                <a16:creationId xmlns:a16="http://schemas.microsoft.com/office/drawing/2014/main" id="{649CA3C9-6579-49D9-A5FD-20231FB4B3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9B94FE-6287-4D49-B0E5-FE9A9BA75A0C}"/>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7" name="Straight Connector 6">
            <a:extLst>
              <a:ext uri="{FF2B5EF4-FFF2-40B4-BE49-F238E27FC236}">
                <a16:creationId xmlns:a16="http://schemas.microsoft.com/office/drawing/2014/main" id="{AE0C0B2A-3FD1-4235-A16E-0ED1E028A93E}"/>
              </a:ext>
            </a:extLst>
          </p:cNvPr>
          <p:cNvCxnSpPr>
            <a:cxnSpLocks/>
          </p:cNvCxnSpPr>
          <p:nvPr/>
        </p:nvCxnSpPr>
        <p:spPr>
          <a:xfrm>
            <a:off x="5826000" y="3525773"/>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9494E066-0146-46E9-BAF1-C33240ABA294}"/>
              </a:ext>
            </a:extLst>
          </p:cNvPr>
          <p:cNvGrpSpPr/>
          <p:nvPr/>
        </p:nvGrpSpPr>
        <p:grpSpPr>
          <a:xfrm rot="2700000">
            <a:off x="10127693" y="4178240"/>
            <a:ext cx="633413" cy="1862138"/>
            <a:chOff x="5959192" y="333389"/>
            <a:chExt cx="633413" cy="1862138"/>
          </a:xfrm>
        </p:grpSpPr>
        <p:grpSp>
          <p:nvGrpSpPr>
            <p:cNvPr id="9" name="Group 8">
              <a:extLst>
                <a:ext uri="{FF2B5EF4-FFF2-40B4-BE49-F238E27FC236}">
                  <a16:creationId xmlns:a16="http://schemas.microsoft.com/office/drawing/2014/main" id="{B02BD80B-C499-4DAC-9580-575B04F8658F}"/>
                </a:ext>
              </a:extLst>
            </p:cNvPr>
            <p:cNvGrpSpPr/>
            <p:nvPr/>
          </p:nvGrpSpPr>
          <p:grpSpPr>
            <a:xfrm>
              <a:off x="5959192" y="333389"/>
              <a:ext cx="633413" cy="1419225"/>
              <a:chOff x="5959192" y="333389"/>
              <a:chExt cx="633413" cy="1419225"/>
            </a:xfrm>
          </p:grpSpPr>
          <p:sp>
            <p:nvSpPr>
              <p:cNvPr id="11" name="Freeform 68">
                <a:extLst>
                  <a:ext uri="{FF2B5EF4-FFF2-40B4-BE49-F238E27FC236}">
                    <a16:creationId xmlns:a16="http://schemas.microsoft.com/office/drawing/2014/main" id="{CCF069F3-858C-4C67-90C2-46017C3D4CEB}"/>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8A1FFA52-DFA8-4A81-8A85-50BE13257F51}"/>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0" name="Line 70">
              <a:extLst>
                <a:ext uri="{FF2B5EF4-FFF2-40B4-BE49-F238E27FC236}">
                  <a16:creationId xmlns:a16="http://schemas.microsoft.com/office/drawing/2014/main" id="{BAEDA471-60CB-4A0C-B9AD-B2B3C51EA2F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008212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32E59-6597-437B-B2F8-E2DD1F86A8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E3BC1D-912E-4012-84AC-A509C9EF4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977110C-4AA3-4101-B3BD-140B90AF99C9}"/>
              </a:ext>
            </a:extLst>
          </p:cNvPr>
          <p:cNvSpPr>
            <a:spLocks noGrp="1"/>
          </p:cNvSpPr>
          <p:nvPr>
            <p:ph type="dt" sz="half" idx="10"/>
          </p:nvPr>
        </p:nvSpPr>
        <p:spPr/>
        <p:txBody>
          <a:bodyPr/>
          <a:lstStyle/>
          <a:p>
            <a:fld id="{4EC743F4-8769-40B4-85DF-6CB8DE9F66AA}" type="datetimeFigureOut">
              <a:rPr lang="en-US" smtClean="0"/>
              <a:t>2/25/2026</a:t>
            </a:fld>
            <a:endParaRPr lang="en-US"/>
          </a:p>
        </p:txBody>
      </p:sp>
      <p:sp>
        <p:nvSpPr>
          <p:cNvPr id="5" name="Footer Placeholder 4">
            <a:extLst>
              <a:ext uri="{FF2B5EF4-FFF2-40B4-BE49-F238E27FC236}">
                <a16:creationId xmlns:a16="http://schemas.microsoft.com/office/drawing/2014/main" id="{4C50F189-4D8E-4DE6-8295-CF92FA8BFD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5F33EC-1ACF-4D46-AEA5-A20802210B7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089397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5267-19A7-4A3D-9658-AD3F78DD35CB}"/>
              </a:ext>
            </a:extLst>
          </p:cNvPr>
          <p:cNvSpPr>
            <a:spLocks noGrp="1"/>
          </p:cNvSpPr>
          <p:nvPr>
            <p:ph type="title"/>
          </p:nvPr>
        </p:nvSpPr>
        <p:spPr>
          <a:xfrm>
            <a:off x="990000" y="2305800"/>
            <a:ext cx="4636800" cy="2246400"/>
          </a:xfrm>
        </p:spPr>
        <p:txBody>
          <a:bodyPr anchor="ctr">
            <a:normAutofit/>
          </a:bodyPr>
          <a:lstStyle>
            <a:lvl1pPr algn="ct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5F17554-5672-499F-BEB9-AB069E6D15F2}"/>
              </a:ext>
            </a:extLst>
          </p:cNvPr>
          <p:cNvSpPr>
            <a:spLocks noGrp="1"/>
          </p:cNvSpPr>
          <p:nvPr>
            <p:ph type="body" idx="1"/>
          </p:nvPr>
        </p:nvSpPr>
        <p:spPr>
          <a:xfrm>
            <a:off x="6565250" y="2305800"/>
            <a:ext cx="4636800" cy="2246400"/>
          </a:xfrm>
        </p:spPr>
        <p:txBody>
          <a:bodyPr anchor="ctr">
            <a:normAutofit/>
          </a:bodyPr>
          <a:lstStyle>
            <a:lvl1pPr marL="0" indent="0" algn="ctr">
              <a:lnSpc>
                <a:spcPct val="125000"/>
              </a:lnSpc>
              <a:buNone/>
              <a:defRPr sz="2400" i="1">
                <a:solidFill>
                  <a:schemeClr val="tx1">
                    <a:alpha val="6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CBA3C6-C279-46AA-B4EE-5F861D83D2AC}"/>
              </a:ext>
            </a:extLst>
          </p:cNvPr>
          <p:cNvSpPr>
            <a:spLocks noGrp="1"/>
          </p:cNvSpPr>
          <p:nvPr>
            <p:ph type="dt" sz="half" idx="10"/>
          </p:nvPr>
        </p:nvSpPr>
        <p:spPr/>
        <p:txBody>
          <a:bodyPr/>
          <a:lstStyle/>
          <a:p>
            <a:fld id="{4EC743F4-8769-40B4-85DF-6CB8DE9F66AA}" type="datetimeFigureOut">
              <a:rPr lang="en-US" smtClean="0"/>
              <a:t>2/25/2026</a:t>
            </a:fld>
            <a:endParaRPr lang="en-US" dirty="0"/>
          </a:p>
        </p:txBody>
      </p:sp>
      <p:sp>
        <p:nvSpPr>
          <p:cNvPr id="5" name="Footer Placeholder 4">
            <a:extLst>
              <a:ext uri="{FF2B5EF4-FFF2-40B4-BE49-F238E27FC236}">
                <a16:creationId xmlns:a16="http://schemas.microsoft.com/office/drawing/2014/main" id="{F04C125B-DDB9-4F4E-B9E9-A747E648F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3D465E-E86B-42A8-B18A-9046E40D63D6}"/>
              </a:ext>
            </a:extLst>
          </p:cNvPr>
          <p:cNvSpPr>
            <a:spLocks noGrp="1"/>
          </p:cNvSpPr>
          <p:nvPr>
            <p:ph type="sldNum" sz="quarter" idx="12"/>
          </p:nvPr>
        </p:nvSpPr>
        <p:spPr/>
        <p:txBody>
          <a:bodyPr/>
          <a:lstStyle/>
          <a:p>
            <a:fld id="{FF2BD96E-3838-45D2-9031-D3AF67C920A5}" type="slidenum">
              <a:rPr lang="en-US" smtClean="0"/>
              <a:t>‹#›</a:t>
            </a:fld>
            <a:endParaRPr lang="en-US"/>
          </a:p>
        </p:txBody>
      </p:sp>
      <p:sp>
        <p:nvSpPr>
          <p:cNvPr id="7" name="Oval 6">
            <a:extLst>
              <a:ext uri="{FF2B5EF4-FFF2-40B4-BE49-F238E27FC236}">
                <a16:creationId xmlns:a16="http://schemas.microsoft.com/office/drawing/2014/main" id="{6681007E-0E57-40DB-9A98-D04E0A05937B}"/>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8" name="Group 7">
            <a:extLst>
              <a:ext uri="{FF2B5EF4-FFF2-40B4-BE49-F238E27FC236}">
                <a16:creationId xmlns:a16="http://schemas.microsoft.com/office/drawing/2014/main" id="{4C2D7ED2-BAE3-470E-9EFF-F2A49EDD9767}"/>
              </a:ext>
            </a:extLst>
          </p:cNvPr>
          <p:cNvGrpSpPr/>
          <p:nvPr/>
        </p:nvGrpSpPr>
        <p:grpSpPr>
          <a:xfrm rot="10800000">
            <a:off x="1079500" y="952167"/>
            <a:ext cx="641184" cy="1069728"/>
            <a:chOff x="6484111" y="2967038"/>
            <a:chExt cx="641184" cy="1069728"/>
          </a:xfrm>
        </p:grpSpPr>
        <p:grpSp>
          <p:nvGrpSpPr>
            <p:cNvPr id="9" name="Group 8">
              <a:extLst>
                <a:ext uri="{FF2B5EF4-FFF2-40B4-BE49-F238E27FC236}">
                  <a16:creationId xmlns:a16="http://schemas.microsoft.com/office/drawing/2014/main" id="{15B14D1A-9E1B-41C3-96AA-A5C40C4F9B3A}"/>
                </a:ext>
              </a:extLst>
            </p:cNvPr>
            <p:cNvGrpSpPr/>
            <p:nvPr/>
          </p:nvGrpSpPr>
          <p:grpSpPr>
            <a:xfrm>
              <a:off x="6808136" y="2967038"/>
              <a:ext cx="317159" cy="932400"/>
              <a:chOff x="6808136" y="2967038"/>
              <a:chExt cx="317159" cy="932400"/>
            </a:xfrm>
          </p:grpSpPr>
          <p:sp>
            <p:nvSpPr>
              <p:cNvPr id="14" name="Freeform 68">
                <a:extLst>
                  <a:ext uri="{FF2B5EF4-FFF2-40B4-BE49-F238E27FC236}">
                    <a16:creationId xmlns:a16="http://schemas.microsoft.com/office/drawing/2014/main" id="{00EC83EC-04A6-4533-80A5-B1817F1FB35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BF61FF24-9074-4265-ACF4-1AEC3621B76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8D31D9FF-672B-4C5E-B4B2-DD86A124413F}"/>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a:extLst>
                <a:ext uri="{FF2B5EF4-FFF2-40B4-BE49-F238E27FC236}">
                  <a16:creationId xmlns:a16="http://schemas.microsoft.com/office/drawing/2014/main" id="{8991EBFD-EBD5-48CE-9178-AF5B6F50D416}"/>
                </a:ext>
              </a:extLst>
            </p:cNvPr>
            <p:cNvGrpSpPr/>
            <p:nvPr/>
          </p:nvGrpSpPr>
          <p:grpSpPr>
            <a:xfrm rot="18900000" flipH="1">
              <a:off x="6484111" y="3104366"/>
              <a:ext cx="317159" cy="932400"/>
              <a:chOff x="6808136" y="2967038"/>
              <a:chExt cx="317159" cy="932400"/>
            </a:xfrm>
          </p:grpSpPr>
          <p:sp>
            <p:nvSpPr>
              <p:cNvPr id="11" name="Freeform 68">
                <a:extLst>
                  <a:ext uri="{FF2B5EF4-FFF2-40B4-BE49-F238E27FC236}">
                    <a16:creationId xmlns:a16="http://schemas.microsoft.com/office/drawing/2014/main" id="{1B45F046-3129-4A30-9402-44BA590CD1B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9">
                <a:extLst>
                  <a:ext uri="{FF2B5EF4-FFF2-40B4-BE49-F238E27FC236}">
                    <a16:creationId xmlns:a16="http://schemas.microsoft.com/office/drawing/2014/main" id="{24589F32-BB2E-46B1-BAB5-75EA779C7A25}"/>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Line 70">
                <a:extLst>
                  <a:ext uri="{FF2B5EF4-FFF2-40B4-BE49-F238E27FC236}">
                    <a16:creationId xmlns:a16="http://schemas.microsoft.com/office/drawing/2014/main" id="{0BD46CA5-AE89-4413-AB8D-347179D8813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cxnSp>
        <p:nvCxnSpPr>
          <p:cNvPr id="17" name="Straight Connector 16">
            <a:extLst>
              <a:ext uri="{FF2B5EF4-FFF2-40B4-BE49-F238E27FC236}">
                <a16:creationId xmlns:a16="http://schemas.microsoft.com/office/drawing/2014/main" id="{4043A360-3214-4DB8-BD85-C6AE48D02D3A}"/>
              </a:ext>
            </a:extLst>
          </p:cNvPr>
          <p:cNvCxnSpPr>
            <a:cxnSpLocks/>
          </p:cNvCxnSpPr>
          <p:nvPr/>
        </p:nvCxnSpPr>
        <p:spPr>
          <a:xfrm rot="16200000" flipH="1">
            <a:off x="5826000" y="3429001"/>
            <a:ext cx="5400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7204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4AEE3-6C7B-402E-B26D-1D079D78D30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1101641-6BDA-433D-9393-1DDACE06701C}"/>
              </a:ext>
            </a:extLst>
          </p:cNvPr>
          <p:cNvSpPr>
            <a:spLocks noGrp="1"/>
          </p:cNvSpPr>
          <p:nvPr>
            <p:ph sz="half" idx="1"/>
          </p:nvPr>
        </p:nvSpPr>
        <p:spPr>
          <a:xfrm>
            <a:off x="989400"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B8F8D2A-A489-488D-B1E1-23F36D3E95C7}"/>
              </a:ext>
            </a:extLst>
          </p:cNvPr>
          <p:cNvSpPr>
            <a:spLocks noGrp="1"/>
          </p:cNvSpPr>
          <p:nvPr>
            <p:ph sz="half" idx="2"/>
          </p:nvPr>
        </p:nvSpPr>
        <p:spPr>
          <a:xfrm>
            <a:off x="6274202" y="1685925"/>
            <a:ext cx="4928400" cy="4092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1CA242E8-AEEF-4BBD-94E9-86F89D69522C}"/>
              </a:ext>
            </a:extLst>
          </p:cNvPr>
          <p:cNvSpPr>
            <a:spLocks noGrp="1"/>
          </p:cNvSpPr>
          <p:nvPr>
            <p:ph type="dt" sz="half" idx="10"/>
          </p:nvPr>
        </p:nvSpPr>
        <p:spPr/>
        <p:txBody>
          <a:bodyPr/>
          <a:lstStyle/>
          <a:p>
            <a:fld id="{4EC743F4-8769-40B4-85DF-6CB8DE9F66AA}" type="datetimeFigureOut">
              <a:rPr lang="en-US" smtClean="0"/>
              <a:t>2/25/2026</a:t>
            </a:fld>
            <a:endParaRPr lang="en-US"/>
          </a:p>
        </p:txBody>
      </p:sp>
      <p:sp>
        <p:nvSpPr>
          <p:cNvPr id="6" name="Footer Placeholder 5">
            <a:extLst>
              <a:ext uri="{FF2B5EF4-FFF2-40B4-BE49-F238E27FC236}">
                <a16:creationId xmlns:a16="http://schemas.microsoft.com/office/drawing/2014/main" id="{BD58D2CA-06C9-412D-A5D6-F97DDBBB03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1A80D9-E04B-47BF-80DA-01E68346A51C}"/>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479104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42251-8A4B-463E-982B-C657C3810F36}"/>
              </a:ext>
            </a:extLst>
          </p:cNvPr>
          <p:cNvSpPr>
            <a:spLocks noGrp="1"/>
          </p:cNvSpPr>
          <p:nvPr>
            <p:ph type="title"/>
          </p:nvPr>
        </p:nvSpPr>
        <p:spPr>
          <a:xfrm>
            <a:off x="989400" y="395289"/>
            <a:ext cx="10213200" cy="1112836"/>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74D5E-AC0B-46BF-8840-61CC89C3B6BE}"/>
              </a:ext>
            </a:extLst>
          </p:cNvPr>
          <p:cNvSpPr>
            <a:spLocks noGrp="1"/>
          </p:cNvSpPr>
          <p:nvPr>
            <p:ph type="body" idx="1"/>
          </p:nvPr>
        </p:nvSpPr>
        <p:spPr>
          <a:xfrm>
            <a:off x="989399" y="1736732"/>
            <a:ext cx="4928400" cy="661912"/>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01A0738-7A90-4A35-AB98-9656D6187286}"/>
              </a:ext>
            </a:extLst>
          </p:cNvPr>
          <p:cNvSpPr>
            <a:spLocks noGrp="1"/>
          </p:cNvSpPr>
          <p:nvPr>
            <p:ph sz="half" idx="2"/>
          </p:nvPr>
        </p:nvSpPr>
        <p:spPr>
          <a:xfrm>
            <a:off x="989400" y="2431256"/>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DADFE01-1BA7-4288-9355-8B2B508BE582}"/>
              </a:ext>
            </a:extLst>
          </p:cNvPr>
          <p:cNvSpPr>
            <a:spLocks noGrp="1"/>
          </p:cNvSpPr>
          <p:nvPr>
            <p:ph type="body" sz="quarter" idx="3"/>
          </p:nvPr>
        </p:nvSpPr>
        <p:spPr>
          <a:xfrm>
            <a:off x="6274200" y="1736732"/>
            <a:ext cx="4928400" cy="662400"/>
          </a:xfrm>
        </p:spPr>
        <p:txBody>
          <a:bodyPr anchor="b">
            <a:normAutofit/>
          </a:bodyPr>
          <a:lstStyle>
            <a:lvl1pPr marL="0" indent="0">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D49F77-6C55-47AC-B1AE-5D9906DBD7F6}"/>
              </a:ext>
            </a:extLst>
          </p:cNvPr>
          <p:cNvSpPr>
            <a:spLocks noGrp="1"/>
          </p:cNvSpPr>
          <p:nvPr>
            <p:ph sz="quarter" idx="4"/>
          </p:nvPr>
        </p:nvSpPr>
        <p:spPr>
          <a:xfrm>
            <a:off x="6274200" y="2431257"/>
            <a:ext cx="4928400" cy="33472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D8EF53-AF86-47E8-83DC-8C419847A639}"/>
              </a:ext>
            </a:extLst>
          </p:cNvPr>
          <p:cNvSpPr>
            <a:spLocks noGrp="1"/>
          </p:cNvSpPr>
          <p:nvPr>
            <p:ph type="dt" sz="half" idx="10"/>
          </p:nvPr>
        </p:nvSpPr>
        <p:spPr/>
        <p:txBody>
          <a:bodyPr/>
          <a:lstStyle/>
          <a:p>
            <a:fld id="{4EC743F4-8769-40B4-85DF-6CB8DE9F66AA}" type="datetimeFigureOut">
              <a:rPr lang="en-US" smtClean="0"/>
              <a:t>2/25/2026</a:t>
            </a:fld>
            <a:endParaRPr lang="en-US"/>
          </a:p>
        </p:txBody>
      </p:sp>
      <p:sp>
        <p:nvSpPr>
          <p:cNvPr id="8" name="Footer Placeholder 7">
            <a:extLst>
              <a:ext uri="{FF2B5EF4-FFF2-40B4-BE49-F238E27FC236}">
                <a16:creationId xmlns:a16="http://schemas.microsoft.com/office/drawing/2014/main" id="{5C01D653-ED9A-46D3-A97F-B5FA1DAE6CA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C5B9B66-64EA-4022-BD96-ECF2A80CE2F0}"/>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1258416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B6B0-54DE-4F2D-84DD-D06CD3B11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EFFE053-BB16-4940-B248-2D496BB29975}"/>
              </a:ext>
            </a:extLst>
          </p:cNvPr>
          <p:cNvSpPr>
            <a:spLocks noGrp="1"/>
          </p:cNvSpPr>
          <p:nvPr>
            <p:ph type="dt" sz="half" idx="10"/>
          </p:nvPr>
        </p:nvSpPr>
        <p:spPr/>
        <p:txBody>
          <a:bodyPr/>
          <a:lstStyle/>
          <a:p>
            <a:fld id="{4EC743F4-8769-40B4-85DF-6CB8DE9F66AA}" type="datetimeFigureOut">
              <a:rPr lang="en-US" smtClean="0"/>
              <a:t>2/25/2026</a:t>
            </a:fld>
            <a:endParaRPr lang="en-US"/>
          </a:p>
        </p:txBody>
      </p:sp>
      <p:sp>
        <p:nvSpPr>
          <p:cNvPr id="4" name="Footer Placeholder 3">
            <a:extLst>
              <a:ext uri="{FF2B5EF4-FFF2-40B4-BE49-F238E27FC236}">
                <a16:creationId xmlns:a16="http://schemas.microsoft.com/office/drawing/2014/main" id="{31FBD80C-6CA1-42DB-B732-4807A27DA8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A9DA86-C177-42C6-90F8-37C6844A2AA8}"/>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050718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6A27C-9BDA-43B3-96EA-C145EA7F04DE}"/>
              </a:ext>
            </a:extLst>
          </p:cNvPr>
          <p:cNvSpPr>
            <a:spLocks noGrp="1"/>
          </p:cNvSpPr>
          <p:nvPr>
            <p:ph type="dt" sz="half" idx="10"/>
          </p:nvPr>
        </p:nvSpPr>
        <p:spPr/>
        <p:txBody>
          <a:bodyPr/>
          <a:lstStyle/>
          <a:p>
            <a:fld id="{4EC743F4-8769-40B4-85DF-6CB8DE9F66AA}" type="datetimeFigureOut">
              <a:rPr lang="en-US" smtClean="0"/>
              <a:t>2/25/2026</a:t>
            </a:fld>
            <a:endParaRPr lang="en-US"/>
          </a:p>
        </p:txBody>
      </p:sp>
      <p:sp>
        <p:nvSpPr>
          <p:cNvPr id="3" name="Footer Placeholder 2">
            <a:extLst>
              <a:ext uri="{FF2B5EF4-FFF2-40B4-BE49-F238E27FC236}">
                <a16:creationId xmlns:a16="http://schemas.microsoft.com/office/drawing/2014/main" id="{791FBD5E-AA17-42F1-8615-49F2664DD4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57A2D5-EBE5-43DD-8CF2-8B90801A0DF5}"/>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35000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451E1-40E1-4ED2-A9E3-6376E774AD27}"/>
              </a:ext>
            </a:extLst>
          </p:cNvPr>
          <p:cNvSpPr>
            <a:spLocks noGrp="1"/>
          </p:cNvSpPr>
          <p:nvPr>
            <p:ph type="title"/>
          </p:nvPr>
        </p:nvSpPr>
        <p:spPr>
          <a:xfrm>
            <a:off x="990001" y="955674"/>
            <a:ext cx="3531600" cy="1384995"/>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BAAE5E-AD83-40D4-8BDB-6B25250247AA}"/>
              </a:ext>
            </a:extLst>
          </p:cNvPr>
          <p:cNvSpPr>
            <a:spLocks noGrp="1"/>
          </p:cNvSpPr>
          <p:nvPr>
            <p:ph idx="1"/>
          </p:nvPr>
        </p:nvSpPr>
        <p:spPr>
          <a:xfrm>
            <a:off x="5444850" y="882651"/>
            <a:ext cx="5760000" cy="489584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4D4DF8E2-A28B-4889-AD9E-1D733FEA2E0C}"/>
              </a:ext>
            </a:extLst>
          </p:cNvPr>
          <p:cNvSpPr>
            <a:spLocks noGrp="1"/>
          </p:cNvSpPr>
          <p:nvPr>
            <p:ph type="body" sz="half" idx="2"/>
          </p:nvPr>
        </p:nvSpPr>
        <p:spPr>
          <a:xfrm>
            <a:off x="989401" y="2584759"/>
            <a:ext cx="3531600" cy="3193741"/>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EF812-B775-468C-84D9-4394CC19F298}"/>
              </a:ext>
            </a:extLst>
          </p:cNvPr>
          <p:cNvSpPr>
            <a:spLocks noGrp="1"/>
          </p:cNvSpPr>
          <p:nvPr>
            <p:ph type="dt" sz="half" idx="10"/>
          </p:nvPr>
        </p:nvSpPr>
        <p:spPr/>
        <p:txBody>
          <a:bodyPr/>
          <a:lstStyle/>
          <a:p>
            <a:fld id="{4EC743F4-8769-40B4-85DF-6CB8DE9F66AA}" type="datetimeFigureOut">
              <a:rPr lang="en-US" smtClean="0"/>
              <a:t>2/25/2026</a:t>
            </a:fld>
            <a:endParaRPr lang="en-US"/>
          </a:p>
        </p:txBody>
      </p:sp>
      <p:sp>
        <p:nvSpPr>
          <p:cNvPr id="6" name="Footer Placeholder 5">
            <a:extLst>
              <a:ext uri="{FF2B5EF4-FFF2-40B4-BE49-F238E27FC236}">
                <a16:creationId xmlns:a16="http://schemas.microsoft.com/office/drawing/2014/main" id="{9DE1DEB3-5237-467C-A5B6-EDA7F366EB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877A6B-440F-4D7B-92DA-1B964D029F12}"/>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10" name="Straight Connector 9">
            <a:extLst>
              <a:ext uri="{FF2B5EF4-FFF2-40B4-BE49-F238E27FC236}">
                <a16:creationId xmlns:a16="http://schemas.microsoft.com/office/drawing/2014/main" id="{DC89B2F1-1E32-44DB-B50E-BEA1896CAD81}"/>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0792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6B204-119E-45DB-A177-995FF5D9B4E5}"/>
              </a:ext>
            </a:extLst>
          </p:cNvPr>
          <p:cNvSpPr>
            <a:spLocks noGrp="1"/>
          </p:cNvSpPr>
          <p:nvPr>
            <p:ph type="title"/>
          </p:nvPr>
        </p:nvSpPr>
        <p:spPr>
          <a:xfrm>
            <a:off x="990000" y="955456"/>
            <a:ext cx="3531600" cy="1384995"/>
          </a:xfrm>
        </p:spPr>
        <p:txBody>
          <a:bodyPr anchor="b"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CD3036-53A8-4361-AAAC-D8072EB470FE}"/>
              </a:ext>
            </a:extLst>
          </p:cNvPr>
          <p:cNvSpPr>
            <a:spLocks noGrp="1"/>
          </p:cNvSpPr>
          <p:nvPr>
            <p:ph type="pic" idx="1"/>
          </p:nvPr>
        </p:nvSpPr>
        <p:spPr>
          <a:xfrm>
            <a:off x="5537200" y="540001"/>
            <a:ext cx="6115050" cy="5238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D0FCFCD5-820E-47D9-9A60-57680C4C9405}"/>
              </a:ext>
            </a:extLst>
          </p:cNvPr>
          <p:cNvSpPr>
            <a:spLocks noGrp="1"/>
          </p:cNvSpPr>
          <p:nvPr>
            <p:ph type="body" sz="half" idx="2"/>
          </p:nvPr>
        </p:nvSpPr>
        <p:spPr>
          <a:xfrm>
            <a:off x="990000" y="2584758"/>
            <a:ext cx="3531600" cy="3284229"/>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2446C3-A62E-4690-9098-53D59C4C33E0}"/>
              </a:ext>
            </a:extLst>
          </p:cNvPr>
          <p:cNvSpPr>
            <a:spLocks noGrp="1"/>
          </p:cNvSpPr>
          <p:nvPr>
            <p:ph type="dt" sz="half" idx="10"/>
          </p:nvPr>
        </p:nvSpPr>
        <p:spPr/>
        <p:txBody>
          <a:bodyPr/>
          <a:lstStyle/>
          <a:p>
            <a:fld id="{4EC743F4-8769-40B4-85DF-6CB8DE9F66AA}" type="datetimeFigureOut">
              <a:rPr lang="en-US" smtClean="0"/>
              <a:t>2/25/2026</a:t>
            </a:fld>
            <a:endParaRPr lang="en-US"/>
          </a:p>
        </p:txBody>
      </p:sp>
      <p:sp>
        <p:nvSpPr>
          <p:cNvPr id="6" name="Footer Placeholder 5">
            <a:extLst>
              <a:ext uri="{FF2B5EF4-FFF2-40B4-BE49-F238E27FC236}">
                <a16:creationId xmlns:a16="http://schemas.microsoft.com/office/drawing/2014/main" id="{40A6C8B8-EA3D-45E5-950A-B6F1EA0B47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2ACAB7-ADBF-42E5-A214-232BA9EFB3B6}"/>
              </a:ext>
            </a:extLst>
          </p:cNvPr>
          <p:cNvSpPr>
            <a:spLocks noGrp="1"/>
          </p:cNvSpPr>
          <p:nvPr>
            <p:ph type="sldNum" sz="quarter" idx="12"/>
          </p:nvPr>
        </p:nvSpPr>
        <p:spPr/>
        <p:txBody>
          <a:bodyPr/>
          <a:lstStyle/>
          <a:p>
            <a:fld id="{FF2BD96E-3838-45D2-9031-D3AF67C920A5}" type="slidenum">
              <a:rPr lang="en-US" smtClean="0"/>
              <a:t>‹#›</a:t>
            </a:fld>
            <a:endParaRPr lang="en-US"/>
          </a:p>
        </p:txBody>
      </p:sp>
      <p:cxnSp>
        <p:nvCxnSpPr>
          <p:cNvPr id="9" name="Straight Connector 8">
            <a:extLst>
              <a:ext uri="{FF2B5EF4-FFF2-40B4-BE49-F238E27FC236}">
                <a16:creationId xmlns:a16="http://schemas.microsoft.com/office/drawing/2014/main" id="{D0E80DA6-B971-46B7-B0D3-8581AE0B6ACB}"/>
              </a:ext>
              <a:ext uri="{C183D7F6-B498-43B3-948B-1728B52AA6E4}">
                <adec:decorative xmlns:adec="http://schemas.microsoft.com/office/drawing/2017/decorative" val="0"/>
              </a:ext>
            </a:extLst>
          </p:cNvPr>
          <p:cNvCxnSpPr>
            <a:cxnSpLocks/>
          </p:cNvCxnSpPr>
          <p:nvPr/>
        </p:nvCxnSpPr>
        <p:spPr>
          <a:xfrm>
            <a:off x="4979988" y="540000"/>
            <a:ext cx="0" cy="5778000"/>
          </a:xfrm>
          <a:prstGeom prst="line">
            <a:avLst/>
          </a:prstGeom>
          <a:ln w="12700">
            <a:solidFill>
              <a:srgbClr val="FFFFFF">
                <a:alpha val="4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3958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FB6D0-92CA-4910-AE77-E238F4C89D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913172-A138-4DD4-A5B1-58BA625078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3897B9-E4AD-469B-A60D-9A1A4BD1980A}"/>
              </a:ext>
            </a:extLst>
          </p:cNvPr>
          <p:cNvSpPr>
            <a:spLocks noGrp="1"/>
          </p:cNvSpPr>
          <p:nvPr>
            <p:ph type="dt" sz="half" idx="10"/>
          </p:nvPr>
        </p:nvSpPr>
        <p:spPr/>
        <p:txBody>
          <a:bodyPr/>
          <a:lstStyle/>
          <a:p>
            <a:fld id="{4EC743F4-8769-40B4-85DF-6CB8DE9F66AA}" type="datetimeFigureOut">
              <a:rPr lang="en-US" smtClean="0"/>
              <a:t>2/25/2026</a:t>
            </a:fld>
            <a:endParaRPr lang="en-US"/>
          </a:p>
        </p:txBody>
      </p:sp>
      <p:sp>
        <p:nvSpPr>
          <p:cNvPr id="5" name="Footer Placeholder 4">
            <a:extLst>
              <a:ext uri="{FF2B5EF4-FFF2-40B4-BE49-F238E27FC236}">
                <a16:creationId xmlns:a16="http://schemas.microsoft.com/office/drawing/2014/main" id="{31C5E1B0-48D6-4F99-9955-39958BA969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9F49DA-55D4-4E36-AEB9-A0E99E31A87E}"/>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3934203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FEBC7C-C5C1-4A79-A195-B35701C289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D34A74-3328-469B-ABCA-96F2FE3687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AE19AB-5637-455E-89C3-B41702C202D4}"/>
              </a:ext>
            </a:extLst>
          </p:cNvPr>
          <p:cNvSpPr>
            <a:spLocks noGrp="1"/>
          </p:cNvSpPr>
          <p:nvPr>
            <p:ph type="dt" sz="half" idx="10"/>
          </p:nvPr>
        </p:nvSpPr>
        <p:spPr/>
        <p:txBody>
          <a:bodyPr/>
          <a:lstStyle/>
          <a:p>
            <a:fld id="{4EC743F4-8769-40B4-85DF-6CB8DE9F66AA}" type="datetimeFigureOut">
              <a:rPr lang="en-US" smtClean="0"/>
              <a:t>2/25/2026</a:t>
            </a:fld>
            <a:endParaRPr lang="en-US"/>
          </a:p>
        </p:txBody>
      </p:sp>
      <p:sp>
        <p:nvSpPr>
          <p:cNvPr id="5" name="Footer Placeholder 4">
            <a:extLst>
              <a:ext uri="{FF2B5EF4-FFF2-40B4-BE49-F238E27FC236}">
                <a16:creationId xmlns:a16="http://schemas.microsoft.com/office/drawing/2014/main" id="{A364F2A3-EBEE-4F42-BAC2-A482F00E6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E1C27-1A43-4B0B-88D0-0C5FE1DBE161}"/>
              </a:ext>
            </a:extLst>
          </p:cNvPr>
          <p:cNvSpPr>
            <a:spLocks noGrp="1"/>
          </p:cNvSpPr>
          <p:nvPr>
            <p:ph type="sldNum" sz="quarter" idx="12"/>
          </p:nvPr>
        </p:nvSpPr>
        <p:spPr/>
        <p:txBody>
          <a:bodyPr/>
          <a:lstStyle/>
          <a:p>
            <a:fld id="{FF2BD96E-3838-45D2-9031-D3AF67C920A5}" type="slidenum">
              <a:rPr lang="en-US" smtClean="0"/>
              <a:t>‹#›</a:t>
            </a:fld>
            <a:endParaRPr lang="en-US"/>
          </a:p>
        </p:txBody>
      </p:sp>
    </p:spTree>
    <p:extLst>
      <p:ext uri="{BB962C8B-B14F-4D97-AF65-F5344CB8AC3E}">
        <p14:creationId xmlns:p14="http://schemas.microsoft.com/office/powerpoint/2010/main" val="2846321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2DDA7E-8449-42D1-93BD-4E96C1BFC18D}"/>
              </a:ext>
            </a:extLst>
          </p:cNvPr>
          <p:cNvSpPr>
            <a:spLocks noGrp="1"/>
          </p:cNvSpPr>
          <p:nvPr>
            <p:ph type="title"/>
          </p:nvPr>
        </p:nvSpPr>
        <p:spPr>
          <a:xfrm>
            <a:off x="989400" y="395289"/>
            <a:ext cx="10213200" cy="1112836"/>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172EB64-DBC0-4012-830E-9166670D17C5}"/>
              </a:ext>
            </a:extLst>
          </p:cNvPr>
          <p:cNvSpPr>
            <a:spLocks noGrp="1"/>
          </p:cNvSpPr>
          <p:nvPr>
            <p:ph type="body" idx="1"/>
          </p:nvPr>
        </p:nvSpPr>
        <p:spPr>
          <a:xfrm>
            <a:off x="989400" y="1685925"/>
            <a:ext cx="10213200" cy="40401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749A3E9-8704-4E26-A519-8215B3E943F5}"/>
              </a:ext>
            </a:extLst>
          </p:cNvPr>
          <p:cNvSpPr>
            <a:spLocks noGrp="1"/>
          </p:cNvSpPr>
          <p:nvPr>
            <p:ph type="dt" sz="half" idx="2"/>
          </p:nvPr>
        </p:nvSpPr>
        <p:spPr>
          <a:xfrm>
            <a:off x="450000" y="6357168"/>
            <a:ext cx="1760150" cy="461665"/>
          </a:xfrm>
          <a:prstGeom prst="rect">
            <a:avLst/>
          </a:prstGeom>
        </p:spPr>
        <p:txBody>
          <a:bodyPr vert="horz" lIns="91440" tIns="45720" rIns="91440" bIns="45720" rtlCol="0" anchor="ctr">
            <a:normAutofit/>
          </a:bodyPr>
          <a:lstStyle>
            <a:lvl1pPr algn="l">
              <a:defRPr sz="1000" cap="all" spc="200" baseline="0">
                <a:solidFill>
                  <a:schemeClr val="tx1">
                    <a:alpha val="60000"/>
                  </a:schemeClr>
                </a:solidFill>
                <a:latin typeface="+mj-lt"/>
              </a:defRPr>
            </a:lvl1pPr>
          </a:lstStyle>
          <a:p>
            <a:fld id="{4EC743F4-8769-40B4-85DF-6CB8DE9F66AA}" type="datetimeFigureOut">
              <a:rPr lang="en-US" smtClean="0"/>
              <a:pPr/>
              <a:t>2/25/2026</a:t>
            </a:fld>
            <a:endParaRPr lang="en-US" dirty="0"/>
          </a:p>
        </p:txBody>
      </p:sp>
      <p:sp>
        <p:nvSpPr>
          <p:cNvPr id="5" name="Footer Placeholder 4">
            <a:extLst>
              <a:ext uri="{FF2B5EF4-FFF2-40B4-BE49-F238E27FC236}">
                <a16:creationId xmlns:a16="http://schemas.microsoft.com/office/drawing/2014/main" id="{C8590E32-87A0-44C2-A299-D45FAB146E08}"/>
              </a:ext>
            </a:extLst>
          </p:cNvPr>
          <p:cNvSpPr>
            <a:spLocks noGrp="1"/>
          </p:cNvSpPr>
          <p:nvPr>
            <p:ph type="ftr" sz="quarter" idx="3"/>
          </p:nvPr>
        </p:nvSpPr>
        <p:spPr>
          <a:xfrm>
            <a:off x="2754312" y="6357600"/>
            <a:ext cx="6683376" cy="460800"/>
          </a:xfrm>
          <a:prstGeom prst="rect">
            <a:avLst/>
          </a:prstGeom>
        </p:spPr>
        <p:txBody>
          <a:bodyPr vert="horz" lIns="91440" tIns="45720" rIns="91440" bIns="45720" rtlCol="0" anchor="ctr"/>
          <a:lstStyle>
            <a:lvl1pPr algn="ctr">
              <a:defRPr sz="1000" cap="all" spc="300" baseline="0">
                <a:solidFill>
                  <a:schemeClr val="tx1">
                    <a:alpha val="60000"/>
                  </a:schemeClr>
                </a:solidFill>
                <a:latin typeface="+mj-lt"/>
              </a:defRPr>
            </a:lvl1pPr>
          </a:lstStyle>
          <a:p>
            <a:endParaRPr lang="en-US" dirty="0"/>
          </a:p>
        </p:txBody>
      </p:sp>
      <p:sp>
        <p:nvSpPr>
          <p:cNvPr id="6" name="Slide Number Placeholder 5">
            <a:extLst>
              <a:ext uri="{FF2B5EF4-FFF2-40B4-BE49-F238E27FC236}">
                <a16:creationId xmlns:a16="http://schemas.microsoft.com/office/drawing/2014/main" id="{BE1C1A41-01A7-44E2-965B-ACFD4F2806FC}"/>
              </a:ext>
            </a:extLst>
          </p:cNvPr>
          <p:cNvSpPr>
            <a:spLocks noGrp="1"/>
          </p:cNvSpPr>
          <p:nvPr>
            <p:ph type="sldNum" sz="quarter" idx="4"/>
          </p:nvPr>
        </p:nvSpPr>
        <p:spPr>
          <a:xfrm>
            <a:off x="9982800" y="6357600"/>
            <a:ext cx="1760150" cy="460800"/>
          </a:xfrm>
          <a:prstGeom prst="rect">
            <a:avLst/>
          </a:prstGeom>
        </p:spPr>
        <p:txBody>
          <a:bodyPr vert="horz" lIns="91440" tIns="45720" rIns="91440" bIns="45720" rtlCol="0" anchor="ctr"/>
          <a:lstStyle>
            <a:lvl1pPr algn="r">
              <a:defRPr sz="1000" cap="all" spc="200" baseline="0">
                <a:solidFill>
                  <a:schemeClr val="tx1">
                    <a:alpha val="60000"/>
                  </a:schemeClr>
                </a:solidFill>
                <a:latin typeface="+mj-lt"/>
              </a:defRPr>
            </a:lvl1pPr>
          </a:lstStyle>
          <a:p>
            <a:fld id="{FF2BD96E-3838-45D2-9031-D3AF67C920A5}" type="slidenum">
              <a:rPr lang="en-US" smtClean="0"/>
              <a:pPr/>
              <a:t>‹#›</a:t>
            </a:fld>
            <a:endParaRPr lang="en-US" dirty="0"/>
          </a:p>
        </p:txBody>
      </p:sp>
    </p:spTree>
    <p:extLst>
      <p:ext uri="{BB962C8B-B14F-4D97-AF65-F5344CB8AC3E}">
        <p14:creationId xmlns:p14="http://schemas.microsoft.com/office/powerpoint/2010/main" val="6740968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p:titleStyle>
    <p:bodyStyle>
      <a:lvl1pPr marL="360000" indent="-360000" algn="l" defTabSz="914400" rtl="0" eaLnBrk="1" latinLnBrk="0" hangingPunct="1">
        <a:lnSpc>
          <a:spcPct val="150000"/>
        </a:lnSpc>
        <a:spcBef>
          <a:spcPts val="10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1pPr>
      <a:lvl2pPr marL="360000" indent="0" algn="l" defTabSz="914400" rtl="0" eaLnBrk="1" latinLnBrk="0" hangingPunct="1">
        <a:lnSpc>
          <a:spcPct val="150000"/>
        </a:lnSpc>
        <a:spcBef>
          <a:spcPts val="500"/>
        </a:spcBef>
        <a:buFontTx/>
        <a:buNone/>
        <a:defRPr sz="2000" b="0" i="1" kern="1200" spc="50" baseline="0">
          <a:solidFill>
            <a:schemeClr val="tx1">
              <a:alpha val="60000"/>
            </a:schemeClr>
          </a:solidFill>
          <a:latin typeface="+mn-lt"/>
          <a:ea typeface="+mn-ea"/>
          <a:cs typeface="+mn-cs"/>
        </a:defRPr>
      </a:lvl2pPr>
      <a:lvl3pPr marL="108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3pPr>
      <a:lvl4pPr marL="1080000" indent="0" algn="l" defTabSz="914400" rtl="0" eaLnBrk="1" latinLnBrk="0" hangingPunct="1">
        <a:lnSpc>
          <a:spcPct val="150000"/>
        </a:lnSpc>
        <a:spcBef>
          <a:spcPts val="500"/>
        </a:spcBef>
        <a:buClr>
          <a:schemeClr val="accent3"/>
        </a:buClr>
        <a:buFontTx/>
        <a:buNone/>
        <a:defRPr sz="2000" b="0" i="1" kern="1200" spc="50" baseline="0">
          <a:solidFill>
            <a:schemeClr val="tx1">
              <a:alpha val="60000"/>
            </a:schemeClr>
          </a:solidFill>
          <a:latin typeface="+mn-lt"/>
          <a:ea typeface="+mn-ea"/>
          <a:cs typeface="+mn-cs"/>
        </a:defRPr>
      </a:lvl4pPr>
      <a:lvl5pPr marL="1800000" indent="-360000" algn="l" defTabSz="914400" rtl="0" eaLnBrk="1" latinLnBrk="0" hangingPunct="1">
        <a:lnSpc>
          <a:spcPct val="150000"/>
        </a:lnSpc>
        <a:spcBef>
          <a:spcPts val="500"/>
        </a:spcBef>
        <a:buClr>
          <a:schemeClr val="accent3"/>
        </a:buClr>
        <a:buFont typeface="Wingdings" panose="05000000000000000000" pitchFamily="2" charset="2"/>
        <a:buChar char=""/>
        <a:defRPr sz="2000" kern="1200" spc="5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37">
          <p15:clr>
            <a:srgbClr val="F26B43"/>
          </p15:clr>
        </p15:guide>
        <p15:guide id="2" orient="horz" pos="2160">
          <p15:clr>
            <a:srgbClr val="F26B43"/>
          </p15:clr>
        </p15:guide>
        <p15:guide id="3" pos="680">
          <p15:clr>
            <a:srgbClr val="F26B43"/>
          </p15:clr>
        </p15:guide>
        <p15:guide id="4" pos="7000">
          <p15:clr>
            <a:srgbClr val="F26B43"/>
          </p15:clr>
        </p15:guide>
        <p15:guide id="5" orient="horz" pos="679">
          <p15:clr>
            <a:srgbClr val="F26B43"/>
          </p15:clr>
        </p15:guide>
        <p15:guide id="6" orient="horz" pos="3640">
          <p15:clr>
            <a:srgbClr val="F26B43"/>
          </p15:clr>
        </p15:guide>
        <p15:guide id="7" pos="6644">
          <p15:clr>
            <a:srgbClr val="F26B43"/>
          </p15:clr>
        </p15:guide>
        <p15:guide id="8" pos="6289">
          <p15:clr>
            <a:srgbClr val="F26B43"/>
          </p15:clr>
        </p15:guide>
        <p15:guide id="9" pos="5945">
          <p15:clr>
            <a:srgbClr val="F26B43"/>
          </p15:clr>
        </p15:guide>
        <p15:guide id="10" pos="1391">
          <p15:clr>
            <a:srgbClr val="F26B43"/>
          </p15:clr>
        </p15:guide>
        <p15:guide id="11" pos="1032">
          <p15:clr>
            <a:srgbClr val="F26B43"/>
          </p15:clr>
        </p15:guide>
        <p15:guide id="12" pos="1732">
          <p15:clr>
            <a:srgbClr val="F26B43"/>
          </p15:clr>
        </p15:guide>
        <p15:guide id="13" pos="2084">
          <p15:clr>
            <a:srgbClr val="F26B43"/>
          </p15:clr>
        </p15:guide>
        <p15:guide id="14" pos="5596">
          <p15:clr>
            <a:srgbClr val="F26B43"/>
          </p15:clr>
        </p15:guide>
        <p15:guide id="15" pos="2436">
          <p15:clr>
            <a:srgbClr val="F26B43"/>
          </p15:clr>
        </p15:guide>
        <p15:guide id="16" pos="5244">
          <p15:clr>
            <a:srgbClr val="F26B43"/>
          </p15:clr>
        </p15:guide>
        <p15:guide id="17" pos="2792">
          <p15:clr>
            <a:srgbClr val="F26B43"/>
          </p15:clr>
        </p15:guide>
        <p15:guide id="18" pos="4892">
          <p15:clr>
            <a:srgbClr val="F26B43"/>
          </p15:clr>
        </p15:guide>
        <p15:guide id="19" pos="4543">
          <p15:clr>
            <a:srgbClr val="F26B43"/>
          </p15:clr>
        </p15:guide>
        <p15:guide id="20" pos="3488">
          <p15:clr>
            <a:srgbClr val="F26B43"/>
          </p15:clr>
        </p15:guide>
        <p15:guide id="21" pos="4192">
          <p15:clr>
            <a:srgbClr val="F26B43"/>
          </p15:clr>
        </p15:guide>
        <p15:guide id="22" pos="3840">
          <p15:clr>
            <a:srgbClr val="F26B43"/>
          </p15:clr>
        </p15:guide>
        <p15:guide id="23" pos="340">
          <p15:clr>
            <a:srgbClr val="A4A3A4"/>
          </p15:clr>
        </p15:guide>
        <p15:guide id="24" pos="7340">
          <p15:clr>
            <a:srgbClr val="A4A3A4"/>
          </p15:clr>
        </p15:guide>
        <p15:guide id="25" orient="horz" pos="1062">
          <p15:clr>
            <a:srgbClr val="5ACBF0"/>
          </p15:clr>
        </p15:guide>
        <p15:guide id="26" orient="horz" pos="3982">
          <p15:clr>
            <a:srgbClr val="A4A3A4"/>
          </p15:clr>
        </p15:guide>
        <p15:guide id="27" orient="horz" pos="338">
          <p15:clr>
            <a:srgbClr val="A4A3A4"/>
          </p15:clr>
        </p15:guide>
        <p15:guide id="28" orient="horz" pos="950">
          <p15:clr>
            <a:srgbClr val="5ACBF0"/>
          </p15:clr>
        </p15:guide>
        <p15:guide id="29" orient="horz" pos="249">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drive.google.com/file/d/1IPEvl9DWOL4ycBJFg3MwOF5nne3dIawR/view?usp=sharing"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A8BC4-F657-E6AA-5C9C-53AAEC05BD6D}"/>
              </a:ext>
            </a:extLst>
          </p:cNvPr>
          <p:cNvSpPr>
            <a:spLocks noGrp="1"/>
          </p:cNvSpPr>
          <p:nvPr>
            <p:ph type="ctrTitle"/>
          </p:nvPr>
        </p:nvSpPr>
        <p:spPr>
          <a:xfrm>
            <a:off x="1003852" y="5554385"/>
            <a:ext cx="10673823" cy="697667"/>
          </a:xfrm>
        </p:spPr>
        <p:txBody>
          <a:bodyPr>
            <a:normAutofit fontScale="90000"/>
          </a:bodyPr>
          <a:lstStyle/>
          <a:p>
            <a:r>
              <a:rPr lang="en-IN" sz="2400" b="1" dirty="0">
                <a:latin typeface="Times New Roman" panose="02020603050405020304" pitchFamily="18" charset="0"/>
                <a:cs typeface="Times New Roman" panose="02020603050405020304" pitchFamily="18" charset="0"/>
              </a:rPr>
              <a:t>    SESHADRI RAO GUDLAVALLERU ENGINEERING COLLEGE</a:t>
            </a:r>
            <a:br>
              <a:rPr lang="en-IN" sz="2400" b="1" dirty="0">
                <a:latin typeface="Times New Roman" panose="02020603050405020304" pitchFamily="18" charset="0"/>
                <a:cs typeface="Times New Roman" panose="02020603050405020304" pitchFamily="18" charset="0"/>
              </a:rPr>
            </a:br>
            <a:r>
              <a:rPr lang="en-IN" sz="2400" b="1" dirty="0">
                <a:solidFill>
                  <a:srgbClr val="000000"/>
                </a:solidFill>
                <a:latin typeface="Times New Roman" panose="02020603050405020304" pitchFamily="18" charset="0"/>
                <a:ea typeface="Times New Roman" panose="02020603050405020304" pitchFamily="18" charset="0"/>
              </a:rPr>
              <a:t>(An Autonomous Institute with Permanent Affiliation to JNTUK, Kakinada)</a:t>
            </a:r>
            <a:endParaRPr lang="en-IN" sz="2400" dirty="0"/>
          </a:p>
        </p:txBody>
      </p:sp>
      <p:sp>
        <p:nvSpPr>
          <p:cNvPr id="14" name="Title 1">
            <a:extLst>
              <a:ext uri="{FF2B5EF4-FFF2-40B4-BE49-F238E27FC236}">
                <a16:creationId xmlns:a16="http://schemas.microsoft.com/office/drawing/2014/main" id="{C19496A0-E89F-BCFC-4877-7286B7EF4097}"/>
              </a:ext>
            </a:extLst>
          </p:cNvPr>
          <p:cNvSpPr txBox="1">
            <a:spLocks/>
          </p:cNvSpPr>
          <p:nvPr/>
        </p:nvSpPr>
        <p:spPr>
          <a:xfrm>
            <a:off x="2888973" y="4908343"/>
            <a:ext cx="5675243" cy="477754"/>
          </a:xfrm>
          <a:prstGeom prst="rect">
            <a:avLst/>
          </a:prstGeom>
        </p:spPr>
        <p:txBody>
          <a:bodyPr vert="horz" lIns="91440" tIns="45720" rIns="91440" bIns="45720" rtlCol="0" anchor="b" anchorCtr="0">
            <a:normAutofit fontScale="90000"/>
          </a:bodyPr>
          <a:lstStyle>
            <a:lvl1pPr algn="ctr" defTabSz="914400" rtl="0" eaLnBrk="1" latinLnBrk="0" hangingPunct="1">
              <a:lnSpc>
                <a:spcPct val="100000"/>
              </a:lnSpc>
              <a:spcBef>
                <a:spcPct val="0"/>
              </a:spcBef>
              <a:buNone/>
              <a:defRPr sz="4800" kern="1200" cap="none" spc="0" baseline="0">
                <a:solidFill>
                  <a:schemeClr val="tx1"/>
                </a:solidFill>
                <a:latin typeface="+mj-lt"/>
                <a:ea typeface="+mj-ea"/>
                <a:cs typeface="+mj-cs"/>
              </a:defRPr>
            </a:lvl1pPr>
          </a:lstStyle>
          <a:p>
            <a:r>
              <a:rPr lang="en-IN" sz="2400" b="1"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DEPARTMENT OF INTERNET OF THINGS</a:t>
            </a:r>
            <a:endParaRPr lang="en-IN" sz="2200" dirty="0"/>
          </a:p>
        </p:txBody>
      </p:sp>
      <p:sp>
        <p:nvSpPr>
          <p:cNvPr id="15" name="Title 1">
            <a:extLst>
              <a:ext uri="{FF2B5EF4-FFF2-40B4-BE49-F238E27FC236}">
                <a16:creationId xmlns:a16="http://schemas.microsoft.com/office/drawing/2014/main" id="{3E0BB60E-0747-199C-7C0D-30711569D5CC}"/>
              </a:ext>
            </a:extLst>
          </p:cNvPr>
          <p:cNvSpPr txBox="1">
            <a:spLocks/>
          </p:cNvSpPr>
          <p:nvPr/>
        </p:nvSpPr>
        <p:spPr>
          <a:xfrm>
            <a:off x="540117" y="258351"/>
            <a:ext cx="11216454" cy="1420182"/>
          </a:xfrm>
          <a:prstGeom prst="rect">
            <a:avLst/>
          </a:prstGeom>
        </p:spPr>
        <p:txBody>
          <a:bodyPr vert="horz" lIns="91440" tIns="45720" rIns="91440" bIns="45720" rtlCol="0" anchor="b" anchorCtr="0">
            <a:noAutofit/>
          </a:bodyPr>
          <a:lstStyle>
            <a:lvl1pPr algn="ctr" defTabSz="914400" rtl="0" eaLnBrk="1" latinLnBrk="0" hangingPunct="1">
              <a:lnSpc>
                <a:spcPct val="100000"/>
              </a:lnSpc>
              <a:spcBef>
                <a:spcPct val="0"/>
              </a:spcBef>
              <a:buNone/>
              <a:defRPr sz="4800" kern="1200" cap="none" spc="0" baseline="0">
                <a:solidFill>
                  <a:schemeClr val="tx1"/>
                </a:solidFill>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Smart Vision-Based Attendance System Using IoT and ML with Real-Time Notifications</a:t>
            </a:r>
            <a:endParaRPr lang="en-IN" sz="3600" b="1" dirty="0">
              <a:latin typeface="Times New Roman" panose="02020603050405020304" pitchFamily="18" charset="0"/>
              <a:cs typeface="Times New Roman" panose="02020603050405020304" pitchFamily="18" charset="0"/>
            </a:endParaRPr>
          </a:p>
        </p:txBody>
      </p:sp>
      <p:sp>
        <p:nvSpPr>
          <p:cNvPr id="16" name="Title 1">
            <a:extLst>
              <a:ext uri="{FF2B5EF4-FFF2-40B4-BE49-F238E27FC236}">
                <a16:creationId xmlns:a16="http://schemas.microsoft.com/office/drawing/2014/main" id="{40D4208D-E0C9-F129-2778-3F056FA127D8}"/>
              </a:ext>
            </a:extLst>
          </p:cNvPr>
          <p:cNvSpPr txBox="1">
            <a:spLocks/>
          </p:cNvSpPr>
          <p:nvPr/>
        </p:nvSpPr>
        <p:spPr>
          <a:xfrm>
            <a:off x="7245626" y="2375452"/>
            <a:ext cx="4724400" cy="4283765"/>
          </a:xfrm>
          <a:prstGeom prst="rect">
            <a:avLst/>
          </a:prstGeom>
        </p:spPr>
        <p:txBody>
          <a:bodyPr vert="horz" lIns="91440" tIns="45720" rIns="91440" bIns="45720" rtlCol="0" anchor="b" anchorCtr="0">
            <a:normAutofit/>
          </a:bodyPr>
          <a:lstStyle>
            <a:lvl1pPr algn="ctr" defTabSz="914400" rtl="0" eaLnBrk="1" latinLnBrk="0" hangingPunct="1">
              <a:lnSpc>
                <a:spcPct val="100000"/>
              </a:lnSpc>
              <a:spcBef>
                <a:spcPct val="0"/>
              </a:spcBef>
              <a:buNone/>
              <a:defRPr sz="4800" kern="1200" cap="none" spc="0" baseline="0">
                <a:solidFill>
                  <a:schemeClr val="tx1"/>
                </a:solidFill>
                <a:latin typeface="+mj-lt"/>
                <a:ea typeface="+mj-ea"/>
                <a:cs typeface="+mj-cs"/>
              </a:defRPr>
            </a:lvl1pPr>
          </a:lstStyle>
          <a:p>
            <a:endParaRPr lang="en-IN" sz="2400" dirty="0">
              <a:latin typeface="Bahnschrift SemiBold SemiConden" panose="020B0502040204020203"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5657BF01-8107-3D2C-AD5C-0E91B1EA8328}"/>
              </a:ext>
            </a:extLst>
          </p:cNvPr>
          <p:cNvSpPr txBox="1"/>
          <p:nvPr/>
        </p:nvSpPr>
        <p:spPr>
          <a:xfrm>
            <a:off x="914329" y="2826127"/>
            <a:ext cx="4446175" cy="4031873"/>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Batch No:12</a:t>
            </a:r>
          </a:p>
          <a:p>
            <a:r>
              <a:rPr lang="en-IN" sz="2000" b="1" dirty="0">
                <a:latin typeface="Times New Roman" panose="02020603050405020304" pitchFamily="18" charset="0"/>
                <a:cs typeface="Times New Roman" panose="02020603050405020304" pitchFamily="18" charset="0"/>
              </a:rPr>
              <a:t>Presented By:</a:t>
            </a:r>
            <a:endParaRPr lang="en-IN" sz="2000"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Sowmya </a:t>
            </a:r>
            <a:r>
              <a:rPr lang="en-IN" dirty="0" err="1">
                <a:latin typeface="Times New Roman" panose="02020603050405020304" pitchFamily="18" charset="0"/>
                <a:cs typeface="Times New Roman" panose="02020603050405020304" pitchFamily="18" charset="0"/>
              </a:rPr>
              <a:t>Sri.G</a:t>
            </a:r>
            <a:r>
              <a:rPr lang="en-IN" dirty="0">
                <a:latin typeface="Times New Roman" panose="02020603050405020304" pitchFamily="18" charset="0"/>
                <a:cs typeface="Times New Roman" panose="02020603050405020304" pitchFamily="18" charset="0"/>
              </a:rPr>
              <a:t>            (22481A60A2)               </a:t>
            </a:r>
          </a:p>
          <a:p>
            <a:pPr algn="just"/>
            <a:r>
              <a:rPr lang="en-IN" dirty="0" err="1">
                <a:latin typeface="Times New Roman" panose="02020603050405020304" pitchFamily="18" charset="0"/>
                <a:cs typeface="Times New Roman" panose="02020603050405020304" pitchFamily="18" charset="0"/>
              </a:rPr>
              <a:t>M.Mohammad</a:t>
            </a:r>
            <a:r>
              <a:rPr lang="en-IN" dirty="0">
                <a:latin typeface="Times New Roman" panose="02020603050405020304" pitchFamily="18" charset="0"/>
                <a:cs typeface="Times New Roman" panose="02020603050405020304" pitchFamily="18" charset="0"/>
              </a:rPr>
              <a:t> Abbas (22481A6068)</a:t>
            </a:r>
            <a:r>
              <a:rPr lang="en-IN" dirty="0"/>
              <a:t> </a:t>
            </a:r>
            <a:endParaRPr lang="en-IN" dirty="0">
              <a:latin typeface="Times New Roman" panose="02020603050405020304" pitchFamily="18" charset="0"/>
              <a:cs typeface="Times New Roman" panose="02020603050405020304" pitchFamily="18" charset="0"/>
            </a:endParaRPr>
          </a:p>
          <a:p>
            <a:pPr algn="just"/>
            <a:r>
              <a:rPr lang="en-IN" dirty="0" err="1">
                <a:latin typeface="Times New Roman" panose="02020603050405020304" pitchFamily="18" charset="0"/>
                <a:cs typeface="Times New Roman" panose="02020603050405020304" pitchFamily="18" charset="0"/>
              </a:rPr>
              <a:t>T.Srikanth</a:t>
            </a:r>
            <a:r>
              <a:rPr lang="en-IN" dirty="0">
                <a:latin typeface="Times New Roman" panose="02020603050405020304" pitchFamily="18" charset="0"/>
                <a:cs typeface="Times New Roman" panose="02020603050405020304" pitchFamily="18" charset="0"/>
              </a:rPr>
              <a:t>                   (22481A60A4)</a:t>
            </a:r>
          </a:p>
          <a:p>
            <a:pPr algn="just"/>
            <a:r>
              <a:rPr lang="en-IN" dirty="0" err="1">
                <a:latin typeface="Times New Roman" panose="02020603050405020304" pitchFamily="18" charset="0"/>
                <a:cs typeface="Times New Roman" panose="02020603050405020304" pitchFamily="18" charset="0"/>
              </a:rPr>
              <a:t>M.Bhaviya</a:t>
            </a:r>
            <a:r>
              <a:rPr lang="en-IN" dirty="0">
                <a:latin typeface="Times New Roman" panose="02020603050405020304" pitchFamily="18" charset="0"/>
                <a:cs typeface="Times New Roman" panose="02020603050405020304" pitchFamily="18" charset="0"/>
              </a:rPr>
              <a:t> Sri            (23485A6014)</a:t>
            </a:r>
          </a:p>
          <a:p>
            <a:pPr algn="just"/>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
        <p:nvSpPr>
          <p:cNvPr id="19" name="TextBox 18">
            <a:extLst>
              <a:ext uri="{FF2B5EF4-FFF2-40B4-BE49-F238E27FC236}">
                <a16:creationId xmlns:a16="http://schemas.microsoft.com/office/drawing/2014/main" id="{69CFD81C-D33D-6A77-CCE0-8CA1BD4E3F7C}"/>
              </a:ext>
            </a:extLst>
          </p:cNvPr>
          <p:cNvSpPr txBox="1"/>
          <p:nvPr/>
        </p:nvSpPr>
        <p:spPr>
          <a:xfrm>
            <a:off x="7722704" y="3518042"/>
            <a:ext cx="2886293" cy="923330"/>
          </a:xfrm>
          <a:prstGeom prst="rect">
            <a:avLst/>
          </a:prstGeom>
          <a:noFill/>
        </p:spPr>
        <p:txBody>
          <a:bodyPr wrap="square">
            <a:spAutoFit/>
          </a:bodyPr>
          <a:lstStyle/>
          <a:p>
            <a:r>
              <a:rPr lang="en-US" dirty="0">
                <a:latin typeface="Times New Roman" pitchFamily="18" charset="0"/>
                <a:cs typeface="Times New Roman" pitchFamily="18" charset="0"/>
              </a:rPr>
              <a:t>  Under the Guidance of</a:t>
            </a:r>
          </a:p>
          <a:p>
            <a:r>
              <a:rPr lang="en-US" b="1" dirty="0">
                <a:latin typeface="Times New Roman" pitchFamily="18" charset="0"/>
                <a:cs typeface="Times New Roman" pitchFamily="18" charset="0"/>
              </a:rPr>
              <a:t>   Mr. Shaik </a:t>
            </a:r>
            <a:r>
              <a:rPr lang="en-US" b="1" dirty="0" err="1">
                <a:latin typeface="Times New Roman" pitchFamily="18" charset="0"/>
                <a:cs typeface="Times New Roman" pitchFamily="18" charset="0"/>
              </a:rPr>
              <a:t>Bajivali</a:t>
            </a:r>
            <a:endParaRPr lang="en-US" b="1" dirty="0">
              <a:latin typeface="Times New Roman" pitchFamily="18" charset="0"/>
              <a:cs typeface="Times New Roman" pitchFamily="18" charset="0"/>
            </a:endParaRPr>
          </a:p>
          <a:p>
            <a:r>
              <a:rPr lang="en-US" b="1" dirty="0">
                <a:latin typeface="Sitka Banner Semibold" pitchFamily="2" charset="0"/>
                <a:cs typeface="Times New Roman" pitchFamily="18" charset="0"/>
              </a:rPr>
              <a:t> Assistant Professor of IoT</a:t>
            </a:r>
            <a:endParaRPr lang="en-US" b="1" dirty="0">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45CA18D2-62EC-201F-ACAF-6800EDF13F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776" y="5280667"/>
            <a:ext cx="1368152" cy="143835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3" name="Title 1">
            <a:extLst>
              <a:ext uri="{FF2B5EF4-FFF2-40B4-BE49-F238E27FC236}">
                <a16:creationId xmlns:a16="http://schemas.microsoft.com/office/drawing/2014/main" id="{90D199A9-525C-B5D8-28D0-9034865ACB16}"/>
              </a:ext>
            </a:extLst>
          </p:cNvPr>
          <p:cNvSpPr txBox="1">
            <a:spLocks/>
          </p:cNvSpPr>
          <p:nvPr/>
        </p:nvSpPr>
        <p:spPr>
          <a:xfrm>
            <a:off x="1845365" y="6237968"/>
            <a:ext cx="7762461" cy="347488"/>
          </a:xfrm>
          <a:prstGeom prst="rect">
            <a:avLst/>
          </a:prstGeom>
        </p:spPr>
        <p:txBody>
          <a:bodyPr vert="horz" lIns="91440" tIns="45720" rIns="91440" bIns="45720" rtlCol="0" anchor="b" anchorCtr="0">
            <a:normAutofit fontScale="82500" lnSpcReduction="20000"/>
          </a:bodyPr>
          <a:lstStyle>
            <a:lvl1pPr algn="ctr" defTabSz="914400" rtl="0" eaLnBrk="1" latinLnBrk="0" hangingPunct="1">
              <a:lnSpc>
                <a:spcPct val="100000"/>
              </a:lnSpc>
              <a:spcBef>
                <a:spcPct val="0"/>
              </a:spcBef>
              <a:buNone/>
              <a:defRPr sz="4800" kern="1200" cap="none" spc="0" baseline="0">
                <a:solidFill>
                  <a:schemeClr val="tx1"/>
                </a:solidFill>
                <a:latin typeface="+mj-lt"/>
                <a:ea typeface="+mj-ea"/>
                <a:cs typeface="+mj-cs"/>
              </a:defRPr>
            </a:lvl1pPr>
          </a:lstStyle>
          <a:p>
            <a:r>
              <a:rPr lang="en-IN" sz="2400" b="1"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Seshadri Rao Knowledge Village, </a:t>
            </a:r>
            <a:r>
              <a:rPr lang="en-US" altLang="en-US" sz="2400" b="1" dirty="0" err="1">
                <a:latin typeface="Times New Roman" panose="02020603050405020304" pitchFamily="18" charset="0"/>
                <a:cs typeface="Times New Roman" panose="02020603050405020304" pitchFamily="18" charset="0"/>
              </a:rPr>
              <a:t>Gudlavalleru</a:t>
            </a:r>
            <a:r>
              <a:rPr lang="en-US" altLang="en-US" sz="2400" b="1" dirty="0">
                <a:latin typeface="Times New Roman" panose="02020603050405020304" pitchFamily="18" charset="0"/>
                <a:cs typeface="Times New Roman" panose="02020603050405020304" pitchFamily="18" charset="0"/>
              </a:rPr>
              <a:t> 521356</a:t>
            </a:r>
            <a:endParaRPr lang="en-IN" sz="2400" b="1" dirty="0"/>
          </a:p>
        </p:txBody>
      </p:sp>
    </p:spTree>
    <p:extLst>
      <p:ext uri="{BB962C8B-B14F-4D97-AF65-F5344CB8AC3E}">
        <p14:creationId xmlns:p14="http://schemas.microsoft.com/office/powerpoint/2010/main" val="1829222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BA8E3-38E0-37E4-5B21-0C9AA78AA65A}"/>
              </a:ext>
            </a:extLst>
          </p:cNvPr>
          <p:cNvSpPr txBox="1">
            <a:spLocks/>
          </p:cNvSpPr>
          <p:nvPr/>
        </p:nvSpPr>
        <p:spPr>
          <a:xfrm>
            <a:off x="530307" y="430521"/>
            <a:ext cx="3445345" cy="70018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CONTENTS</a:t>
            </a:r>
          </a:p>
        </p:txBody>
      </p:sp>
      <p:sp>
        <p:nvSpPr>
          <p:cNvPr id="5" name="TextBox 4">
            <a:extLst>
              <a:ext uri="{FF2B5EF4-FFF2-40B4-BE49-F238E27FC236}">
                <a16:creationId xmlns:a16="http://schemas.microsoft.com/office/drawing/2014/main" id="{F18DF5B8-AFF0-1E05-2BF5-1AEB5C218F6D}"/>
              </a:ext>
            </a:extLst>
          </p:cNvPr>
          <p:cNvSpPr txBox="1"/>
          <p:nvPr/>
        </p:nvSpPr>
        <p:spPr>
          <a:xfrm>
            <a:off x="417442" y="1130710"/>
            <a:ext cx="7951306" cy="6709529"/>
          </a:xfrm>
          <a:prstGeom prst="rect">
            <a:avLst/>
          </a:prstGeom>
          <a:noFill/>
        </p:spPr>
        <p:txBody>
          <a:bodyPr wrap="square">
            <a:spAutoFit/>
          </a:bodyPr>
          <a:lstStyle/>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Motivation</a:t>
            </a:r>
          </a:p>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Objectives</a:t>
            </a:r>
          </a:p>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Introduction</a:t>
            </a:r>
          </a:p>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Literature Survey</a:t>
            </a:r>
          </a:p>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Title of Smart Attendance using RFID and Face Recognition</a:t>
            </a:r>
          </a:p>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Title of Smart Vision-Based Attendance System Using IoT and ML With Real Time Notifications</a:t>
            </a:r>
          </a:p>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Design Methodology</a:t>
            </a:r>
          </a:p>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Block Diagram of Title of Proposed Project</a:t>
            </a:r>
          </a:p>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Software Tools and Hardware components required</a:t>
            </a:r>
          </a:p>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Hardware Implementation</a:t>
            </a:r>
          </a:p>
          <a:p>
            <a:pPr marL="342900" indent="-342900">
              <a:buFont typeface="Wingdings" panose="05000000000000000000" pitchFamily="2" charset="2"/>
              <a:buChar char="Ø"/>
            </a:pPr>
            <a:r>
              <a:rPr lang="en-IN" sz="2000" b="1" dirty="0" err="1">
                <a:latin typeface="Times New Roman" panose="02020603050405020304" pitchFamily="18" charset="0"/>
                <a:cs typeface="Times New Roman" panose="02020603050405020304" pitchFamily="18" charset="0"/>
              </a:rPr>
              <a:t>Results&amp;Discussions</a:t>
            </a:r>
            <a:endParaRPr lang="en-IN" sz="20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Comparison Table of Existing and Proposed System</a:t>
            </a:r>
          </a:p>
          <a:p>
            <a:pPr marL="342900" indent="-342900">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Conclusion</a:t>
            </a: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References</a:t>
            </a: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Execution Video</a:t>
            </a:r>
          </a:p>
          <a:p>
            <a:pPr marL="342900" indent="-342900">
              <a:buFont typeface="Wingdings" panose="05000000000000000000" pitchFamily="2" charset="2"/>
              <a:buChar char="§"/>
            </a:pPr>
            <a:endParaRPr lang="en-IN" sz="2000"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
        <p:nvSpPr>
          <p:cNvPr id="3" name="Title 1">
            <a:extLst>
              <a:ext uri="{FF2B5EF4-FFF2-40B4-BE49-F238E27FC236}">
                <a16:creationId xmlns:a16="http://schemas.microsoft.com/office/drawing/2014/main" id="{7EFD74C1-2F39-616B-608B-2040B9518405}"/>
              </a:ext>
            </a:extLst>
          </p:cNvPr>
          <p:cNvSpPr txBox="1">
            <a:spLocks/>
          </p:cNvSpPr>
          <p:nvPr/>
        </p:nvSpPr>
        <p:spPr>
          <a:xfrm>
            <a:off x="221975" y="6124536"/>
            <a:ext cx="2481468" cy="554560"/>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spTree>
    <p:extLst>
      <p:ext uri="{BB962C8B-B14F-4D97-AF65-F5344CB8AC3E}">
        <p14:creationId xmlns:p14="http://schemas.microsoft.com/office/powerpoint/2010/main" val="1642961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D73F2-69E2-837E-1209-ED173D29155B}"/>
              </a:ext>
            </a:extLst>
          </p:cNvPr>
          <p:cNvSpPr txBox="1">
            <a:spLocks/>
          </p:cNvSpPr>
          <p:nvPr/>
        </p:nvSpPr>
        <p:spPr>
          <a:xfrm>
            <a:off x="1123122" y="365126"/>
            <a:ext cx="10396330" cy="648666"/>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dirty="0"/>
              <a:t>                              </a:t>
            </a:r>
            <a:r>
              <a:rPr lang="en-IN" b="1" dirty="0">
                <a:latin typeface="Times New Roman" panose="02020603050405020304" pitchFamily="18" charset="0"/>
                <a:cs typeface="Times New Roman" panose="02020603050405020304" pitchFamily="18" charset="0"/>
              </a:rPr>
              <a:t>MOTIVATION</a:t>
            </a:r>
          </a:p>
        </p:txBody>
      </p:sp>
      <p:sp>
        <p:nvSpPr>
          <p:cNvPr id="4" name="TextBox 3">
            <a:extLst>
              <a:ext uri="{FF2B5EF4-FFF2-40B4-BE49-F238E27FC236}">
                <a16:creationId xmlns:a16="http://schemas.microsoft.com/office/drawing/2014/main" id="{2006C986-84EB-61E6-87A9-96719F1F6682}"/>
              </a:ext>
            </a:extLst>
          </p:cNvPr>
          <p:cNvSpPr txBox="1"/>
          <p:nvPr/>
        </p:nvSpPr>
        <p:spPr>
          <a:xfrm>
            <a:off x="437323" y="1490007"/>
            <a:ext cx="11632758" cy="2769989"/>
          </a:xfrm>
          <a:prstGeom prst="rect">
            <a:avLst/>
          </a:prstGeom>
          <a:noFill/>
        </p:spPr>
        <p:txBody>
          <a:bodyPr wrap="square">
            <a:spAutoFit/>
          </a:bodyPr>
          <a:lstStyle/>
          <a:p>
            <a:pPr marL="342900" indent="-34290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In many schools and colleges, attendance is still taken manually, which takes time and reduces valuable teaching time. It is also easy for students to give proxy attendance for their friends. This project is motivated by the need to replace this old method with an intelligent automated system. By using IoT and machine learning to recognize faces instantly, the system makes attendance faster and more accurate.</a:t>
            </a:r>
            <a:endParaRPr lang="en-IN"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p>
        </p:txBody>
      </p:sp>
      <p:sp>
        <p:nvSpPr>
          <p:cNvPr id="3" name="Title 1">
            <a:extLst>
              <a:ext uri="{FF2B5EF4-FFF2-40B4-BE49-F238E27FC236}">
                <a16:creationId xmlns:a16="http://schemas.microsoft.com/office/drawing/2014/main" id="{C9C60C5E-6147-D387-C10C-16473D27B895}"/>
              </a:ext>
            </a:extLst>
          </p:cNvPr>
          <p:cNvSpPr txBox="1">
            <a:spLocks/>
          </p:cNvSpPr>
          <p:nvPr/>
        </p:nvSpPr>
        <p:spPr>
          <a:xfrm>
            <a:off x="221975" y="6124536"/>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sp>
        <p:nvSpPr>
          <p:cNvPr id="7" name="Title 1">
            <a:extLst>
              <a:ext uri="{FF2B5EF4-FFF2-40B4-BE49-F238E27FC236}">
                <a16:creationId xmlns:a16="http://schemas.microsoft.com/office/drawing/2014/main" id="{59A399D5-ACF9-F54F-90EC-841994B3F953}"/>
              </a:ext>
            </a:extLst>
          </p:cNvPr>
          <p:cNvSpPr txBox="1">
            <a:spLocks/>
          </p:cNvSpPr>
          <p:nvPr/>
        </p:nvSpPr>
        <p:spPr>
          <a:xfrm>
            <a:off x="11618843" y="6370983"/>
            <a:ext cx="351182" cy="440632"/>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1</a:t>
            </a:r>
          </a:p>
        </p:txBody>
      </p:sp>
    </p:spTree>
    <p:extLst>
      <p:ext uri="{BB962C8B-B14F-4D97-AF65-F5344CB8AC3E}">
        <p14:creationId xmlns:p14="http://schemas.microsoft.com/office/powerpoint/2010/main" val="2994366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4A079-EE6C-1D4F-4F77-808AEBB4B855}"/>
              </a:ext>
            </a:extLst>
          </p:cNvPr>
          <p:cNvSpPr txBox="1">
            <a:spLocks/>
          </p:cNvSpPr>
          <p:nvPr/>
        </p:nvSpPr>
        <p:spPr>
          <a:xfrm>
            <a:off x="1123122" y="365126"/>
            <a:ext cx="10396330" cy="648666"/>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dirty="0"/>
              <a:t>                               </a:t>
            </a:r>
            <a:r>
              <a:rPr lang="en-IN" b="1" dirty="0">
                <a:latin typeface="Times New Roman" panose="02020603050405020304" pitchFamily="18" charset="0"/>
                <a:cs typeface="Times New Roman" panose="02020603050405020304" pitchFamily="18" charset="0"/>
              </a:rPr>
              <a:t>OBJECTIVES</a:t>
            </a:r>
          </a:p>
        </p:txBody>
      </p:sp>
      <p:sp>
        <p:nvSpPr>
          <p:cNvPr id="3" name="TextBox 2">
            <a:extLst>
              <a:ext uri="{FF2B5EF4-FFF2-40B4-BE49-F238E27FC236}">
                <a16:creationId xmlns:a16="http://schemas.microsoft.com/office/drawing/2014/main" id="{C0F1920D-3CA2-1E1B-83B4-BF38471A539E}"/>
              </a:ext>
            </a:extLst>
          </p:cNvPr>
          <p:cNvSpPr txBox="1"/>
          <p:nvPr/>
        </p:nvSpPr>
        <p:spPr>
          <a:xfrm>
            <a:off x="606288" y="1411357"/>
            <a:ext cx="11363737" cy="2862322"/>
          </a:xfrm>
          <a:prstGeom prst="rect">
            <a:avLst/>
          </a:prstGeom>
          <a:noFill/>
        </p:spPr>
        <p:txBody>
          <a:bodyPr wrap="square">
            <a:spAutoFit/>
          </a:bodyPr>
          <a:lstStyle/>
          <a:p>
            <a:pPr marL="342900" indent="-342900"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This project aims to automate attendance using IoT and machine learning to reduce manual work. It captures and updates attendance in real time through connected devices. The system also sends instant notifications to parents to keep them informed about their child’s attendance. Overall, it saves time for faculty and students and makes attendance management simple and efficient.</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p>
        </p:txBody>
      </p:sp>
      <p:sp>
        <p:nvSpPr>
          <p:cNvPr id="4" name="Title 1">
            <a:extLst>
              <a:ext uri="{FF2B5EF4-FFF2-40B4-BE49-F238E27FC236}">
                <a16:creationId xmlns:a16="http://schemas.microsoft.com/office/drawing/2014/main" id="{777B3622-2BAF-A916-9B94-FAB2990E6DC0}"/>
              </a:ext>
            </a:extLst>
          </p:cNvPr>
          <p:cNvSpPr txBox="1">
            <a:spLocks/>
          </p:cNvSpPr>
          <p:nvPr/>
        </p:nvSpPr>
        <p:spPr>
          <a:xfrm>
            <a:off x="221975" y="6124536"/>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sp>
        <p:nvSpPr>
          <p:cNvPr id="5" name="Title 1">
            <a:extLst>
              <a:ext uri="{FF2B5EF4-FFF2-40B4-BE49-F238E27FC236}">
                <a16:creationId xmlns:a16="http://schemas.microsoft.com/office/drawing/2014/main" id="{467A9D92-B85A-69E9-F73B-4BB35D265E2E}"/>
              </a:ext>
            </a:extLst>
          </p:cNvPr>
          <p:cNvSpPr txBox="1">
            <a:spLocks/>
          </p:cNvSpPr>
          <p:nvPr/>
        </p:nvSpPr>
        <p:spPr>
          <a:xfrm>
            <a:off x="11618843" y="6370983"/>
            <a:ext cx="351182" cy="440632"/>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2</a:t>
            </a:r>
          </a:p>
        </p:txBody>
      </p:sp>
    </p:spTree>
    <p:extLst>
      <p:ext uri="{BB962C8B-B14F-4D97-AF65-F5344CB8AC3E}">
        <p14:creationId xmlns:p14="http://schemas.microsoft.com/office/powerpoint/2010/main" val="2014227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BBCA-6949-9226-2C76-0EECBB7447DC}"/>
              </a:ext>
            </a:extLst>
          </p:cNvPr>
          <p:cNvSpPr txBox="1">
            <a:spLocks/>
          </p:cNvSpPr>
          <p:nvPr/>
        </p:nvSpPr>
        <p:spPr>
          <a:xfrm>
            <a:off x="1123122" y="365126"/>
            <a:ext cx="10396330" cy="648666"/>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dirty="0"/>
              <a:t>                              </a:t>
            </a:r>
            <a:r>
              <a:rPr lang="en-IN" b="1" dirty="0">
                <a:latin typeface="Times New Roman" panose="02020603050405020304" pitchFamily="18" charset="0"/>
                <a:cs typeface="Times New Roman" panose="02020603050405020304" pitchFamily="18" charset="0"/>
              </a:rPr>
              <a:t>INTRODUCTION</a:t>
            </a:r>
          </a:p>
        </p:txBody>
      </p:sp>
      <p:sp>
        <p:nvSpPr>
          <p:cNvPr id="8" name="TextBox 7">
            <a:extLst>
              <a:ext uri="{FF2B5EF4-FFF2-40B4-BE49-F238E27FC236}">
                <a16:creationId xmlns:a16="http://schemas.microsoft.com/office/drawing/2014/main" id="{3EDCF708-FDE6-BCE6-B33D-569FDB7E1F6A}"/>
              </a:ext>
            </a:extLst>
          </p:cNvPr>
          <p:cNvSpPr txBox="1"/>
          <p:nvPr/>
        </p:nvSpPr>
        <p:spPr>
          <a:xfrm>
            <a:off x="4701209" y="1540564"/>
            <a:ext cx="7490790" cy="4616648"/>
          </a:xfrm>
          <a:prstGeom prst="rect">
            <a:avLst/>
          </a:prstGeom>
          <a:noFill/>
        </p:spPr>
        <p:txBody>
          <a:bodyPr wrap="square">
            <a:spAutoFit/>
          </a:bodyPr>
          <a:lstStyle/>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Smart Vision-Based Attendance System is used to automate daily attendance in schools, colleges, and workplaces.</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Uses IoT, cameras and ML for real-time attendance.</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Sends alert notifications to parents.</a:t>
            </a: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Keeps data secure, saves time and </a:t>
            </a:r>
            <a:r>
              <a:rPr lang="en-IN" sz="2400" dirty="0">
                <a:latin typeface="Times New Roman" panose="02020603050405020304" pitchFamily="18" charset="0"/>
                <a:cs typeface="Times New Roman" panose="02020603050405020304" pitchFamily="18" charset="0"/>
              </a:rPr>
              <a:t>easy to use</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p>
        </p:txBody>
      </p:sp>
      <p:sp>
        <p:nvSpPr>
          <p:cNvPr id="3" name="Title 1">
            <a:extLst>
              <a:ext uri="{FF2B5EF4-FFF2-40B4-BE49-F238E27FC236}">
                <a16:creationId xmlns:a16="http://schemas.microsoft.com/office/drawing/2014/main" id="{CDFFB2B4-D90D-E0B1-3C71-A2E04DA5EFA4}"/>
              </a:ext>
            </a:extLst>
          </p:cNvPr>
          <p:cNvSpPr txBox="1">
            <a:spLocks/>
          </p:cNvSpPr>
          <p:nvPr/>
        </p:nvSpPr>
        <p:spPr>
          <a:xfrm>
            <a:off x="221975" y="6124536"/>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sp>
        <p:nvSpPr>
          <p:cNvPr id="5" name="Title 1">
            <a:extLst>
              <a:ext uri="{FF2B5EF4-FFF2-40B4-BE49-F238E27FC236}">
                <a16:creationId xmlns:a16="http://schemas.microsoft.com/office/drawing/2014/main" id="{7662A629-CBC7-9665-CDB7-5D9BB8220F84}"/>
              </a:ext>
            </a:extLst>
          </p:cNvPr>
          <p:cNvSpPr txBox="1">
            <a:spLocks/>
          </p:cNvSpPr>
          <p:nvPr/>
        </p:nvSpPr>
        <p:spPr>
          <a:xfrm>
            <a:off x="11618843" y="6370983"/>
            <a:ext cx="351182" cy="440632"/>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3</a:t>
            </a:r>
          </a:p>
        </p:txBody>
      </p:sp>
      <p:sp>
        <p:nvSpPr>
          <p:cNvPr id="4" name="Title 1">
            <a:extLst>
              <a:ext uri="{FF2B5EF4-FFF2-40B4-BE49-F238E27FC236}">
                <a16:creationId xmlns:a16="http://schemas.microsoft.com/office/drawing/2014/main" id="{DD33E5C3-3818-9BB9-4CA8-2161AABD5486}"/>
              </a:ext>
            </a:extLst>
          </p:cNvPr>
          <p:cNvSpPr txBox="1">
            <a:spLocks/>
          </p:cNvSpPr>
          <p:nvPr/>
        </p:nvSpPr>
        <p:spPr>
          <a:xfrm>
            <a:off x="151394" y="4909082"/>
            <a:ext cx="4679023"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1400" dirty="0">
                <a:latin typeface="Arial Black" panose="020B0A04020102020204" pitchFamily="34" charset="0"/>
                <a:cs typeface="Times New Roman" panose="02020603050405020304" pitchFamily="18" charset="0"/>
              </a:rPr>
              <a:t>Figure 1: Smart Attendance Using IoT and ML</a:t>
            </a:r>
          </a:p>
        </p:txBody>
      </p:sp>
      <p:pic>
        <p:nvPicPr>
          <p:cNvPr id="9" name="Picture 8">
            <a:extLst>
              <a:ext uri="{FF2B5EF4-FFF2-40B4-BE49-F238E27FC236}">
                <a16:creationId xmlns:a16="http://schemas.microsoft.com/office/drawing/2014/main" id="{BA33AAD6-C140-E747-55F4-906FFBEEBF9B}"/>
              </a:ext>
            </a:extLst>
          </p:cNvPr>
          <p:cNvPicPr>
            <a:picLocks noChangeAspect="1"/>
          </p:cNvPicPr>
          <p:nvPr/>
        </p:nvPicPr>
        <p:blipFill>
          <a:blip r:embed="rId3"/>
          <a:stretch>
            <a:fillRect/>
          </a:stretch>
        </p:blipFill>
        <p:spPr>
          <a:xfrm>
            <a:off x="151394" y="2241915"/>
            <a:ext cx="4338549" cy="2730246"/>
          </a:xfrm>
          <a:prstGeom prst="rect">
            <a:avLst/>
          </a:prstGeom>
        </p:spPr>
      </p:pic>
    </p:spTree>
    <p:extLst>
      <p:ext uri="{BB962C8B-B14F-4D97-AF65-F5344CB8AC3E}">
        <p14:creationId xmlns:p14="http://schemas.microsoft.com/office/powerpoint/2010/main" val="878010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DD07-D3F7-87B0-CC0E-DE925B4F82FC}"/>
              </a:ext>
            </a:extLst>
          </p:cNvPr>
          <p:cNvSpPr txBox="1">
            <a:spLocks/>
          </p:cNvSpPr>
          <p:nvPr/>
        </p:nvSpPr>
        <p:spPr>
          <a:xfrm>
            <a:off x="922681" y="149087"/>
            <a:ext cx="10455965" cy="566530"/>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dirty="0"/>
              <a:t>                            </a:t>
            </a:r>
            <a:r>
              <a:rPr lang="en-US" b="1" dirty="0">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E133D8A4-5967-2D1A-2E77-B4A43B1EF2EC}"/>
              </a:ext>
            </a:extLst>
          </p:cNvPr>
          <p:cNvGraphicFramePr>
            <a:graphicFrameLocks noGrp="1"/>
          </p:cNvGraphicFramePr>
          <p:nvPr>
            <p:extLst>
              <p:ext uri="{D42A27DB-BD31-4B8C-83A1-F6EECF244321}">
                <p14:modId xmlns:p14="http://schemas.microsoft.com/office/powerpoint/2010/main" val="418051186"/>
              </p:ext>
            </p:extLst>
          </p:nvPr>
        </p:nvGraphicFramePr>
        <p:xfrm>
          <a:off x="274982" y="854765"/>
          <a:ext cx="11751364" cy="5678292"/>
        </p:xfrm>
        <a:graphic>
          <a:graphicData uri="http://schemas.openxmlformats.org/drawingml/2006/table">
            <a:tbl>
              <a:tblPr>
                <a:tableStyleId>{616DA210-FB5B-4158-B5E0-FEB733F419BA}</a:tableStyleId>
              </a:tblPr>
              <a:tblGrid>
                <a:gridCol w="471273">
                  <a:extLst>
                    <a:ext uri="{9D8B030D-6E8A-4147-A177-3AD203B41FA5}">
                      <a16:colId xmlns:a16="http://schemas.microsoft.com/office/drawing/2014/main" val="965950500"/>
                    </a:ext>
                  </a:extLst>
                </a:gridCol>
                <a:gridCol w="1132241">
                  <a:extLst>
                    <a:ext uri="{9D8B030D-6E8A-4147-A177-3AD203B41FA5}">
                      <a16:colId xmlns:a16="http://schemas.microsoft.com/office/drawing/2014/main" val="667806439"/>
                    </a:ext>
                  </a:extLst>
                </a:gridCol>
                <a:gridCol w="1798982">
                  <a:extLst>
                    <a:ext uri="{9D8B030D-6E8A-4147-A177-3AD203B41FA5}">
                      <a16:colId xmlns:a16="http://schemas.microsoft.com/office/drawing/2014/main" val="1855916225"/>
                    </a:ext>
                  </a:extLst>
                </a:gridCol>
                <a:gridCol w="2669380">
                  <a:extLst>
                    <a:ext uri="{9D8B030D-6E8A-4147-A177-3AD203B41FA5}">
                      <a16:colId xmlns:a16="http://schemas.microsoft.com/office/drawing/2014/main" val="1639256198"/>
                    </a:ext>
                  </a:extLst>
                </a:gridCol>
                <a:gridCol w="2839744">
                  <a:extLst>
                    <a:ext uri="{9D8B030D-6E8A-4147-A177-3AD203B41FA5}">
                      <a16:colId xmlns:a16="http://schemas.microsoft.com/office/drawing/2014/main" val="3209698745"/>
                    </a:ext>
                  </a:extLst>
                </a:gridCol>
                <a:gridCol w="2839744">
                  <a:extLst>
                    <a:ext uri="{9D8B030D-6E8A-4147-A177-3AD203B41FA5}">
                      <a16:colId xmlns:a16="http://schemas.microsoft.com/office/drawing/2014/main" val="3013587088"/>
                    </a:ext>
                  </a:extLst>
                </a:gridCol>
              </a:tblGrid>
              <a:tr h="0">
                <a:tc>
                  <a:txBody>
                    <a:bodyPr/>
                    <a:lstStyle/>
                    <a:p>
                      <a:pPr>
                        <a:buNone/>
                      </a:pPr>
                      <a:r>
                        <a:rPr lang="en-IN" sz="1400" b="1" dirty="0" err="1">
                          <a:latin typeface="Times New Roman" panose="02020603050405020304" pitchFamily="18" charset="0"/>
                          <a:cs typeface="Times New Roman" panose="02020603050405020304" pitchFamily="18" charset="0"/>
                        </a:rPr>
                        <a:t>S.No</a:t>
                      </a:r>
                      <a:r>
                        <a:rPr lang="en-IN" sz="1400" b="1" dirty="0">
                          <a:latin typeface="Times New Roman" panose="02020603050405020304" pitchFamily="18" charset="0"/>
                          <a:cs typeface="Times New Roman" panose="02020603050405020304" pitchFamily="18" charset="0"/>
                        </a:rPr>
                        <a:t>.</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 Author(s) &amp; Year</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   Title of the Paper</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               Methodology</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                  Advantages</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             Disadvantages</a:t>
                      </a:r>
                    </a:p>
                  </a:txBody>
                  <a:tcPr anchor="ctr"/>
                </a:tc>
                <a:extLst>
                  <a:ext uri="{0D108BD9-81ED-4DB2-BD59-A6C34878D82A}">
                    <a16:rowId xmlns:a16="http://schemas.microsoft.com/office/drawing/2014/main" val="3773399224"/>
                  </a:ext>
                </a:extLst>
              </a:tr>
              <a:tr h="953892">
                <a:tc>
                  <a:txBody>
                    <a:bodyPr/>
                    <a:lstStyle/>
                    <a:p>
                      <a:pPr>
                        <a:buNone/>
                      </a:pPr>
                      <a:r>
                        <a:rPr lang="en-IN" sz="1400" b="1">
                          <a:latin typeface="Times New Roman" panose="02020603050405020304" pitchFamily="18" charset="0"/>
                          <a:cs typeface="Times New Roman" panose="02020603050405020304" pitchFamily="18" charset="0"/>
                        </a:rPr>
                        <a:t>1.</a:t>
                      </a:r>
                    </a:p>
                  </a:txBody>
                  <a:tcPr anchor="ctr"/>
                </a:tc>
                <a:tc>
                  <a:txBody>
                    <a:bodyPr/>
                    <a:lstStyle/>
                    <a:p>
                      <a:pPr>
                        <a:buNone/>
                      </a:pPr>
                      <a:r>
                        <a:rPr lang="pt-BR" sz="1400" b="1" dirty="0">
                          <a:latin typeface="Times New Roman" panose="02020603050405020304" pitchFamily="18" charset="0"/>
                          <a:cs typeface="Times New Roman" panose="02020603050405020304" pitchFamily="18" charset="0"/>
                        </a:rPr>
                        <a:t>Preetham B R, Prajwal R &amp; Sanjay K</a:t>
                      </a:r>
                      <a:r>
                        <a:rPr lang="en-IN" sz="1400" b="1" dirty="0">
                          <a:latin typeface="Times New Roman" panose="02020603050405020304" pitchFamily="18" charset="0"/>
                          <a:cs typeface="Times New Roman" panose="02020603050405020304" pitchFamily="18" charset="0"/>
                        </a:rPr>
                        <a:t> (2023)</a:t>
                      </a:r>
                    </a:p>
                  </a:txBody>
                  <a:tcPr anchor="ctr"/>
                </a:tc>
                <a:tc>
                  <a:txBody>
                    <a:bodyPr/>
                    <a:lstStyle/>
                    <a:p>
                      <a:pPr>
                        <a:buNone/>
                      </a:pPr>
                      <a:r>
                        <a:rPr lang="en-US" sz="1400" b="1" dirty="0">
                          <a:latin typeface="Times New Roman" panose="02020603050405020304" pitchFamily="18" charset="0"/>
                          <a:cs typeface="Times New Roman" panose="02020603050405020304" pitchFamily="18" charset="0"/>
                        </a:rPr>
                        <a:t>Smart Attendance Using RFID and Face Recognition</a:t>
                      </a:r>
                      <a:endParaRPr lang="en-US" sz="1400" b="1" i="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latin typeface="Times New Roman" panose="02020603050405020304" pitchFamily="18" charset="0"/>
                          <a:cs typeface="Times New Roman" panose="02020603050405020304" pitchFamily="18" charset="0"/>
                        </a:rPr>
                        <a:t>RFID card scanning followed by face recognition verification; attendance stored in centralized database.</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latin typeface="Times New Roman" panose="02020603050405020304" pitchFamily="18" charset="0"/>
                          <a:cs typeface="Times New Roman" panose="02020603050405020304" pitchFamily="18" charset="0"/>
                        </a:rPr>
                        <a:t>Dual authentication improves security; reduces proxy attendance; automated record keeping.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latin typeface="Times New Roman" panose="02020603050405020304" pitchFamily="18" charset="0"/>
                          <a:cs typeface="Times New Roman" panose="02020603050405020304" pitchFamily="18" charset="0"/>
                        </a:rPr>
                        <a:t>High installation cost; complex setup; system slows if one module fails.</a:t>
                      </a:r>
                    </a:p>
                  </a:txBody>
                  <a:tcPr anchor="ctr"/>
                </a:tc>
                <a:extLst>
                  <a:ext uri="{0D108BD9-81ED-4DB2-BD59-A6C34878D82A}">
                    <a16:rowId xmlns:a16="http://schemas.microsoft.com/office/drawing/2014/main" val="3105247468"/>
                  </a:ext>
                </a:extLst>
              </a:tr>
              <a:tr h="953892">
                <a:tc>
                  <a:txBody>
                    <a:bodyPr/>
                    <a:lstStyle/>
                    <a:p>
                      <a:pPr>
                        <a:buNone/>
                      </a:pPr>
                      <a:r>
                        <a:rPr lang="en-IN" sz="1400" b="1">
                          <a:latin typeface="Times New Roman" panose="02020603050405020304" pitchFamily="18" charset="0"/>
                          <a:cs typeface="Times New Roman" panose="02020603050405020304" pitchFamily="18" charset="0"/>
                        </a:rPr>
                        <a:t>2.</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N. </a:t>
                      </a:r>
                      <a:r>
                        <a:rPr lang="en-IN" sz="1400" b="1" dirty="0" err="1">
                          <a:latin typeface="Times New Roman" panose="02020603050405020304" pitchFamily="18" charset="0"/>
                          <a:cs typeface="Times New Roman" panose="02020603050405020304" pitchFamily="18" charset="0"/>
                        </a:rPr>
                        <a:t>Thaleeparambil</a:t>
                      </a:r>
                      <a:r>
                        <a:rPr lang="en-IN" sz="1400" b="1" dirty="0">
                          <a:latin typeface="Times New Roman" panose="02020603050405020304" pitchFamily="18" charset="0"/>
                          <a:cs typeface="Times New Roman" panose="02020603050405020304" pitchFamily="18" charset="0"/>
                        </a:rPr>
                        <a:t>, A. Biju &amp; B. Prathap(2024)</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Integrated RFID-</a:t>
                      </a:r>
                      <a:r>
                        <a:rPr lang="en-IN" sz="1400" b="1" dirty="0" err="1">
                          <a:latin typeface="Times New Roman" panose="02020603050405020304" pitchFamily="18" charset="0"/>
                          <a:cs typeface="Times New Roman" panose="02020603050405020304" pitchFamily="18" charset="0"/>
                        </a:rPr>
                        <a:t>WiFi</a:t>
                      </a:r>
                      <a:r>
                        <a:rPr lang="en-IN" sz="1400" b="1" dirty="0">
                          <a:latin typeface="Times New Roman" panose="02020603050405020304" pitchFamily="18" charset="0"/>
                          <a:cs typeface="Times New Roman" panose="02020603050405020304" pitchFamily="18" charset="0"/>
                        </a:rPr>
                        <a:t>-Vision Attendance System</a:t>
                      </a:r>
                      <a:endParaRPr lang="en-US" sz="1400" b="1" i="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b="1" dirty="0">
                          <a:latin typeface="Times New Roman" panose="02020603050405020304" pitchFamily="18" charset="0"/>
                          <a:cs typeface="Times New Roman" panose="02020603050405020304" pitchFamily="18" charset="0"/>
                        </a:rPr>
                        <a:t>RFID identification combined with Wi-Fi data transmission and vision-based verification; cloud storage used.</a:t>
                      </a:r>
                    </a:p>
                  </a:txBody>
                  <a:tcPr anchor="ctr"/>
                </a:tc>
                <a:tc>
                  <a:txBody>
                    <a:bodyPr/>
                    <a:lstStyle/>
                    <a:p>
                      <a:pPr>
                        <a:buNone/>
                      </a:pPr>
                      <a:r>
                        <a:rPr lang="en-US" sz="1400" b="1" dirty="0">
                          <a:latin typeface="Times New Roman" panose="02020603050405020304" pitchFamily="18" charset="0"/>
                          <a:cs typeface="Times New Roman" panose="02020603050405020304" pitchFamily="18" charset="0"/>
                        </a:rPr>
                        <a:t>Multi-layer authentication; remote monitoring; improved reliability.</a:t>
                      </a:r>
                    </a:p>
                  </a:txBody>
                  <a:tcPr anchor="ctr"/>
                </a:tc>
                <a:tc>
                  <a:txBody>
                    <a:bodyPr/>
                    <a:lstStyle/>
                    <a:p>
                      <a:pPr>
                        <a:buNone/>
                      </a:pPr>
                      <a:r>
                        <a:rPr lang="en-US" sz="1400" b="1" dirty="0">
                          <a:latin typeface="Times New Roman" panose="02020603050405020304" pitchFamily="18" charset="0"/>
                          <a:cs typeface="Times New Roman" panose="02020603050405020304" pitchFamily="18" charset="0"/>
                        </a:rPr>
                        <a:t>Expensive setup; requires strong Wi-Fi; higher maintenance complexity.</a:t>
                      </a:r>
                    </a:p>
                  </a:txBody>
                  <a:tcPr anchor="ctr"/>
                </a:tc>
                <a:extLst>
                  <a:ext uri="{0D108BD9-81ED-4DB2-BD59-A6C34878D82A}">
                    <a16:rowId xmlns:a16="http://schemas.microsoft.com/office/drawing/2014/main" val="1252731854"/>
                  </a:ext>
                </a:extLst>
              </a:tr>
              <a:tr h="614371">
                <a:tc>
                  <a:txBody>
                    <a:bodyPr/>
                    <a:lstStyle/>
                    <a:p>
                      <a:pPr>
                        <a:buNone/>
                      </a:pPr>
                      <a:r>
                        <a:rPr lang="en-IN" sz="1400" b="1">
                          <a:latin typeface="Times New Roman" panose="02020603050405020304" pitchFamily="18" charset="0"/>
                          <a:cs typeface="Times New Roman" panose="02020603050405020304" pitchFamily="18" charset="0"/>
                        </a:rPr>
                        <a:t>3.</a:t>
                      </a:r>
                    </a:p>
                  </a:txBody>
                  <a:tcPr anchor="ctr"/>
                </a:tc>
                <a:tc>
                  <a:txBody>
                    <a:bodyPr/>
                    <a:lstStyle/>
                    <a:p>
                      <a:pPr>
                        <a:buNone/>
                      </a:pPr>
                      <a:r>
                        <a:rPr lang="da-DK" sz="1400" b="1" dirty="0">
                          <a:latin typeface="Times New Roman" panose="02020603050405020304" pitchFamily="18" charset="0"/>
                          <a:cs typeface="Times New Roman" panose="02020603050405020304" pitchFamily="18" charset="0"/>
                        </a:rPr>
                        <a:t>D. V. Darshan et al.</a:t>
                      </a:r>
                      <a:r>
                        <a:rPr lang="en-IN" sz="1400" b="1" dirty="0">
                          <a:latin typeface="Times New Roman" panose="02020603050405020304" pitchFamily="18" charset="0"/>
                          <a:cs typeface="Times New Roman" panose="02020603050405020304" pitchFamily="18" charset="0"/>
                        </a:rPr>
                        <a:t>(2024)</a:t>
                      </a:r>
                    </a:p>
                  </a:txBody>
                  <a:tcPr anchor="ctr"/>
                </a:tc>
                <a:tc>
                  <a:txBody>
                    <a:bodyPr/>
                    <a:lstStyle/>
                    <a:p>
                      <a:pPr>
                        <a:buNone/>
                      </a:pPr>
                      <a:r>
                        <a:rPr lang="en-US" sz="1400" b="1" i="0" dirty="0">
                          <a:latin typeface="Times New Roman" panose="02020603050405020304" pitchFamily="18" charset="0"/>
                          <a:cs typeface="Times New Roman" panose="02020603050405020304" pitchFamily="18" charset="0"/>
                        </a:rPr>
                        <a:t>I</a:t>
                      </a:r>
                      <a:r>
                        <a:rPr lang="en-US" sz="1400" b="1" dirty="0">
                          <a:latin typeface="Times New Roman" panose="02020603050405020304" pitchFamily="18" charset="0"/>
                          <a:cs typeface="Times New Roman" panose="02020603050405020304" pitchFamily="18" charset="0"/>
                        </a:rPr>
                        <a:t>oT-Based Attendance Monitoring with Facial Recognition</a:t>
                      </a:r>
                      <a:endParaRPr lang="en-US" sz="1400" b="1" i="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latin typeface="Times New Roman" panose="02020603050405020304" pitchFamily="18" charset="0"/>
                          <a:cs typeface="Times New Roman" panose="02020603050405020304" pitchFamily="18" charset="0"/>
                        </a:rPr>
                        <a:t>Face captured via camera; facial recognition algorithm identifies students; IoT module uploads data to cloud.</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latin typeface="Times New Roman" panose="02020603050405020304" pitchFamily="18" charset="0"/>
                          <a:cs typeface="Times New Roman" panose="02020603050405020304" pitchFamily="18" charset="0"/>
                        </a:rPr>
                        <a:t>Real-time monitoring; automated reports; reduced paperwork.</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latin typeface="Times New Roman" panose="02020603050405020304" pitchFamily="18" charset="0"/>
                          <a:cs typeface="Times New Roman" panose="02020603050405020304" pitchFamily="18" charset="0"/>
                        </a:rPr>
                        <a:t>Performance affected by lighting and occlusion; internet dependency.</a:t>
                      </a:r>
                    </a:p>
                  </a:txBody>
                  <a:tcPr anchor="ctr"/>
                </a:tc>
                <a:extLst>
                  <a:ext uri="{0D108BD9-81ED-4DB2-BD59-A6C34878D82A}">
                    <a16:rowId xmlns:a16="http://schemas.microsoft.com/office/drawing/2014/main" val="1593193074"/>
                  </a:ext>
                </a:extLst>
              </a:tr>
              <a:tr h="614371">
                <a:tc>
                  <a:txBody>
                    <a:bodyPr/>
                    <a:lstStyle/>
                    <a:p>
                      <a:pPr>
                        <a:buNone/>
                      </a:pPr>
                      <a:r>
                        <a:rPr lang="en-IN" sz="1400" b="1" dirty="0">
                          <a:latin typeface="Times New Roman" panose="02020603050405020304" pitchFamily="18" charset="0"/>
                          <a:cs typeface="Times New Roman" panose="02020603050405020304" pitchFamily="18" charset="0"/>
                        </a:rPr>
                        <a:t>4.</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A. Raj et al. (2024)</a:t>
                      </a:r>
                    </a:p>
                  </a:txBody>
                  <a:tcPr anchor="ctr"/>
                </a:tc>
                <a:tc>
                  <a:txBody>
                    <a:bodyPr/>
                    <a:lstStyle/>
                    <a:p>
                      <a:pPr>
                        <a:buNone/>
                      </a:pPr>
                      <a:r>
                        <a:rPr lang="en-US" sz="1400" b="1" dirty="0">
                          <a:latin typeface="Times New Roman" panose="02020603050405020304" pitchFamily="18" charset="0"/>
                          <a:cs typeface="Times New Roman" panose="02020603050405020304" pitchFamily="18" charset="0"/>
                        </a:rPr>
                        <a:t>Facial Recognition-Based Student Attendance System</a:t>
                      </a:r>
                      <a:endParaRPr lang="en-US" sz="1400" b="1" i="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b="1" dirty="0">
                          <a:latin typeface="Times New Roman" panose="02020603050405020304" pitchFamily="18" charset="0"/>
                          <a:cs typeface="Times New Roman" panose="02020603050405020304" pitchFamily="18" charset="0"/>
                        </a:rPr>
                        <a:t>Deep learning-based face detection and recognition; automatic attendance marking using stored database.</a:t>
                      </a:r>
                    </a:p>
                  </a:txBody>
                  <a:tcPr anchor="ctr"/>
                </a:tc>
                <a:tc>
                  <a:txBody>
                    <a:bodyPr/>
                    <a:lstStyle/>
                    <a:p>
                      <a:pPr>
                        <a:buNone/>
                      </a:pPr>
                      <a:r>
                        <a:rPr lang="en-US" sz="1400" b="1" dirty="0">
                          <a:latin typeface="Times New Roman" panose="02020603050405020304" pitchFamily="18" charset="0"/>
                          <a:cs typeface="Times New Roman" panose="02020603050405020304" pitchFamily="18" charset="0"/>
                        </a:rPr>
                        <a:t>Contactless system; high accuracy; prevents proxy attendance.</a:t>
                      </a:r>
                    </a:p>
                  </a:txBody>
                  <a:tcPr anchor="ctr"/>
                </a:tc>
                <a:tc>
                  <a:txBody>
                    <a:bodyPr/>
                    <a:lstStyle/>
                    <a:p>
                      <a:pPr>
                        <a:buNone/>
                      </a:pPr>
                      <a:r>
                        <a:rPr lang="en-US" sz="1400" b="1" dirty="0">
                          <a:latin typeface="Times New Roman" panose="02020603050405020304" pitchFamily="18" charset="0"/>
                          <a:cs typeface="Times New Roman" panose="02020603050405020304" pitchFamily="18" charset="0"/>
                        </a:rPr>
                        <a:t>Requires high processing power; privacy concerns; large dataset needed.</a:t>
                      </a:r>
                    </a:p>
                  </a:txBody>
                  <a:tcPr anchor="ctr"/>
                </a:tc>
                <a:extLst>
                  <a:ext uri="{0D108BD9-81ED-4DB2-BD59-A6C34878D82A}">
                    <a16:rowId xmlns:a16="http://schemas.microsoft.com/office/drawing/2014/main" val="1924713158"/>
                  </a:ext>
                </a:extLst>
              </a:tr>
              <a:tr h="614371">
                <a:tc>
                  <a:txBody>
                    <a:bodyPr/>
                    <a:lstStyle/>
                    <a:p>
                      <a:pPr>
                        <a:buNone/>
                      </a:pPr>
                      <a:r>
                        <a:rPr lang="en-IN" sz="1400" b="1" dirty="0">
                          <a:latin typeface="Times New Roman" panose="02020603050405020304" pitchFamily="18" charset="0"/>
                          <a:cs typeface="Times New Roman" panose="02020603050405020304" pitchFamily="18" charset="0"/>
                        </a:rPr>
                        <a:t>5.</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G. Ramani et al. (2023)</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Smart Attendance System Using IoT</a:t>
                      </a:r>
                      <a:endParaRPr lang="en-US" sz="1400" b="1" i="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b="1" dirty="0">
                          <a:latin typeface="Times New Roman" panose="02020603050405020304" pitchFamily="18" charset="0"/>
                          <a:cs typeface="Times New Roman" panose="02020603050405020304" pitchFamily="18" charset="0"/>
                        </a:rPr>
                        <a:t>IoT sensors detect student presence; attendance data transmitted to server and stored automatically.</a:t>
                      </a:r>
                    </a:p>
                  </a:txBody>
                  <a:tcPr anchor="ctr"/>
                </a:tc>
                <a:tc>
                  <a:txBody>
                    <a:bodyPr/>
                    <a:lstStyle/>
                    <a:p>
                      <a:pPr>
                        <a:buNone/>
                      </a:pPr>
                      <a:r>
                        <a:rPr lang="en-US" sz="1400" b="1" dirty="0">
                          <a:latin typeface="Times New Roman" panose="02020603050405020304" pitchFamily="18" charset="0"/>
                          <a:cs typeface="Times New Roman" panose="02020603050405020304" pitchFamily="18" charset="0"/>
                        </a:rPr>
                        <a:t>Low manual effort; simple automation; cloud-based storage.</a:t>
                      </a:r>
                    </a:p>
                  </a:txBody>
                  <a:tcPr anchor="ctr"/>
                </a:tc>
                <a:tc>
                  <a:txBody>
                    <a:bodyPr/>
                    <a:lstStyle/>
                    <a:p>
                      <a:pPr>
                        <a:buNone/>
                      </a:pPr>
                      <a:r>
                        <a:rPr lang="en-US" sz="1400" b="1" dirty="0">
                          <a:latin typeface="Times New Roman" panose="02020603050405020304" pitchFamily="18" charset="0"/>
                          <a:cs typeface="Times New Roman" panose="02020603050405020304" pitchFamily="18" charset="0"/>
                        </a:rPr>
                        <a:t>Cannot prevent proxy attendance; lacks ML verification; basic functionality only.</a:t>
                      </a:r>
                    </a:p>
                  </a:txBody>
                  <a:tcPr anchor="ctr"/>
                </a:tc>
                <a:extLst>
                  <a:ext uri="{0D108BD9-81ED-4DB2-BD59-A6C34878D82A}">
                    <a16:rowId xmlns:a16="http://schemas.microsoft.com/office/drawing/2014/main" val="3496405672"/>
                  </a:ext>
                </a:extLst>
              </a:tr>
            </a:tbl>
          </a:graphicData>
        </a:graphic>
      </p:graphicFrame>
      <p:sp>
        <p:nvSpPr>
          <p:cNvPr id="4" name="Title 1">
            <a:extLst>
              <a:ext uri="{FF2B5EF4-FFF2-40B4-BE49-F238E27FC236}">
                <a16:creationId xmlns:a16="http://schemas.microsoft.com/office/drawing/2014/main" id="{005A04E6-E616-CC51-BF5B-F8396530CD2C}"/>
              </a:ext>
            </a:extLst>
          </p:cNvPr>
          <p:cNvSpPr txBox="1">
            <a:spLocks/>
          </p:cNvSpPr>
          <p:nvPr/>
        </p:nvSpPr>
        <p:spPr>
          <a:xfrm>
            <a:off x="11704982" y="6488747"/>
            <a:ext cx="410817" cy="369253"/>
          </a:xfrm>
          <a:prstGeom prst="rect">
            <a:avLst/>
          </a:prstGeom>
        </p:spPr>
        <p:txBody>
          <a:bodyPr wrap="square" anchor="b">
            <a:normAutofit lnSpcReduction="10000"/>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4</a:t>
            </a:r>
          </a:p>
        </p:txBody>
      </p:sp>
    </p:spTree>
    <p:extLst>
      <p:ext uri="{BB962C8B-B14F-4D97-AF65-F5344CB8AC3E}">
        <p14:creationId xmlns:p14="http://schemas.microsoft.com/office/powerpoint/2010/main" val="653230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1717E-DB54-2A88-84FD-3D26D7F00BEB}"/>
              </a:ext>
            </a:extLst>
          </p:cNvPr>
          <p:cNvSpPr txBox="1">
            <a:spLocks/>
          </p:cNvSpPr>
          <p:nvPr/>
        </p:nvSpPr>
        <p:spPr>
          <a:xfrm>
            <a:off x="944218" y="198785"/>
            <a:ext cx="10286999" cy="575412"/>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dirty="0"/>
              <a:t>  </a:t>
            </a:r>
            <a:r>
              <a:rPr lang="en-IN" b="1" dirty="0">
                <a:latin typeface="Times New Roman" panose="02020603050405020304" pitchFamily="18" charset="0"/>
                <a:cs typeface="Times New Roman" panose="02020603050405020304" pitchFamily="18" charset="0"/>
              </a:rPr>
              <a:t>Smart Attendance using RFID and Face Recognition</a:t>
            </a:r>
          </a:p>
          <a:p>
            <a:endParaRPr lang="en-IN"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573B3B13-422A-E62E-C8FC-BEC8D4743F8B}"/>
              </a:ext>
            </a:extLst>
          </p:cNvPr>
          <p:cNvSpPr txBox="1">
            <a:spLocks/>
          </p:cNvSpPr>
          <p:nvPr/>
        </p:nvSpPr>
        <p:spPr>
          <a:xfrm>
            <a:off x="221975" y="6124536"/>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sp>
        <p:nvSpPr>
          <p:cNvPr id="8" name="Title 1">
            <a:extLst>
              <a:ext uri="{FF2B5EF4-FFF2-40B4-BE49-F238E27FC236}">
                <a16:creationId xmlns:a16="http://schemas.microsoft.com/office/drawing/2014/main" id="{4CA44309-97E7-A152-1B8C-3933606A644B}"/>
              </a:ext>
            </a:extLst>
          </p:cNvPr>
          <p:cNvSpPr txBox="1">
            <a:spLocks/>
          </p:cNvSpPr>
          <p:nvPr/>
        </p:nvSpPr>
        <p:spPr>
          <a:xfrm>
            <a:off x="11628783" y="6473711"/>
            <a:ext cx="341242" cy="337904"/>
          </a:xfrm>
          <a:prstGeom prst="rect">
            <a:avLst/>
          </a:prstGeom>
        </p:spPr>
        <p:txBody>
          <a:bodyPr wrap="square" anchor="b">
            <a:normAutofit fontScale="92500" lnSpcReduction="20000"/>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endParaRPr lang="en-US" sz="2000"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7B8323AA-62C2-3463-E6FB-2D6F8D8EBD19}"/>
              </a:ext>
            </a:extLst>
          </p:cNvPr>
          <p:cNvSpPr txBox="1">
            <a:spLocks/>
          </p:cNvSpPr>
          <p:nvPr/>
        </p:nvSpPr>
        <p:spPr>
          <a:xfrm>
            <a:off x="798444" y="5437810"/>
            <a:ext cx="5297556" cy="534678"/>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1400" dirty="0">
                <a:latin typeface="Arial Black" panose="020B0A04020102020204" pitchFamily="34" charset="0"/>
                <a:cs typeface="Times New Roman" panose="02020603050405020304" pitchFamily="18" charset="0"/>
              </a:rPr>
              <a:t> Figure 2 : </a:t>
            </a:r>
            <a:r>
              <a:rPr lang="en-US" sz="1400" dirty="0" err="1">
                <a:latin typeface="Arial Black" panose="020B0A04020102020204" pitchFamily="34" charset="0"/>
                <a:cs typeface="Times New Roman" panose="02020603050405020304" pitchFamily="18" charset="0"/>
              </a:rPr>
              <a:t>FlowChart</a:t>
            </a:r>
            <a:r>
              <a:rPr lang="en-US" sz="1400" dirty="0">
                <a:latin typeface="Arial Black" panose="020B0A04020102020204" pitchFamily="34" charset="0"/>
                <a:cs typeface="Times New Roman" panose="02020603050405020304" pitchFamily="18" charset="0"/>
              </a:rPr>
              <a:t> of the Existing System</a:t>
            </a:r>
          </a:p>
        </p:txBody>
      </p:sp>
      <p:pic>
        <p:nvPicPr>
          <p:cNvPr id="10" name="Picture 9">
            <a:extLst>
              <a:ext uri="{FF2B5EF4-FFF2-40B4-BE49-F238E27FC236}">
                <a16:creationId xmlns:a16="http://schemas.microsoft.com/office/drawing/2014/main" id="{751E51D5-820F-BFCE-AECE-707A3441CC3F}"/>
              </a:ext>
            </a:extLst>
          </p:cNvPr>
          <p:cNvPicPr>
            <a:picLocks noChangeAspect="1"/>
          </p:cNvPicPr>
          <p:nvPr/>
        </p:nvPicPr>
        <p:blipFill>
          <a:blip r:embed="rId3"/>
          <a:stretch>
            <a:fillRect/>
          </a:stretch>
        </p:blipFill>
        <p:spPr>
          <a:xfrm>
            <a:off x="132523" y="1183862"/>
            <a:ext cx="5963477" cy="4253948"/>
          </a:xfrm>
          <a:prstGeom prst="rect">
            <a:avLst/>
          </a:prstGeom>
        </p:spPr>
      </p:pic>
      <p:sp>
        <p:nvSpPr>
          <p:cNvPr id="6" name="Title 1">
            <a:extLst>
              <a:ext uri="{FF2B5EF4-FFF2-40B4-BE49-F238E27FC236}">
                <a16:creationId xmlns:a16="http://schemas.microsoft.com/office/drawing/2014/main" id="{449FF61D-853F-17E4-21D6-F661A61A77F3}"/>
              </a:ext>
            </a:extLst>
          </p:cNvPr>
          <p:cNvSpPr txBox="1">
            <a:spLocks/>
          </p:cNvSpPr>
          <p:nvPr/>
        </p:nvSpPr>
        <p:spPr>
          <a:xfrm>
            <a:off x="11704982" y="6488747"/>
            <a:ext cx="410817" cy="369253"/>
          </a:xfrm>
          <a:prstGeom prst="rect">
            <a:avLst/>
          </a:prstGeom>
        </p:spPr>
        <p:txBody>
          <a:bodyPr wrap="square" anchor="b">
            <a:normAutofit lnSpcReduction="10000"/>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5</a:t>
            </a:r>
          </a:p>
        </p:txBody>
      </p:sp>
      <p:sp>
        <p:nvSpPr>
          <p:cNvPr id="5" name="TextBox 4">
            <a:extLst>
              <a:ext uri="{FF2B5EF4-FFF2-40B4-BE49-F238E27FC236}">
                <a16:creationId xmlns:a16="http://schemas.microsoft.com/office/drawing/2014/main" id="{2B6D8ED9-B88B-24EE-CFD3-9128E5D7BA3F}"/>
              </a:ext>
            </a:extLst>
          </p:cNvPr>
          <p:cNvSpPr txBox="1"/>
          <p:nvPr/>
        </p:nvSpPr>
        <p:spPr>
          <a:xfrm>
            <a:off x="6096000" y="1110881"/>
            <a:ext cx="6095999" cy="5355312"/>
          </a:xfrm>
          <a:prstGeom prst="rect">
            <a:avLst/>
          </a:prstGeom>
          <a:noFill/>
        </p:spPr>
        <p:txBody>
          <a:bodyPr wrap="square">
            <a:spAutoFit/>
          </a:bodyPr>
          <a:lstStyle/>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existing systems, the process starts when an RFID card is scanned and the UID is checked in the database.</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face matches the UID, attendance is </a:t>
            </a:r>
            <a:r>
              <a:rPr lang="en-US" sz="2400" dirty="0" err="1">
                <a:latin typeface="Times New Roman" panose="02020603050405020304" pitchFamily="18" charset="0"/>
                <a:cs typeface="Times New Roman" panose="02020603050405020304" pitchFamily="18" charset="0"/>
              </a:rPr>
              <a:t>recorded,if</a:t>
            </a:r>
            <a:r>
              <a:rPr lang="en-US" sz="2400" dirty="0">
                <a:latin typeface="Times New Roman" panose="02020603050405020304" pitchFamily="18" charset="0"/>
                <a:cs typeface="Times New Roman" panose="02020603050405020304" pitchFamily="18" charset="0"/>
              </a:rPr>
              <a:t> not, it is rejected.</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depends on RFID cards, which can be lost or misused and the two-step verification process increases time and complexity in large classrooms.</a:t>
            </a:r>
            <a:endParaRPr lang="en-IN"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1430923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518981-F0DB-67EA-E050-8FCDEA8BA1CC}"/>
              </a:ext>
            </a:extLst>
          </p:cNvPr>
          <p:cNvSpPr txBox="1">
            <a:spLocks/>
          </p:cNvSpPr>
          <p:nvPr/>
        </p:nvSpPr>
        <p:spPr>
          <a:xfrm>
            <a:off x="221975" y="6124536"/>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sp>
        <p:nvSpPr>
          <p:cNvPr id="4" name="Title 1">
            <a:extLst>
              <a:ext uri="{FF2B5EF4-FFF2-40B4-BE49-F238E27FC236}">
                <a16:creationId xmlns:a16="http://schemas.microsoft.com/office/drawing/2014/main" id="{10192109-2526-7035-EA2C-E01BD22AC665}"/>
              </a:ext>
            </a:extLst>
          </p:cNvPr>
          <p:cNvSpPr txBox="1">
            <a:spLocks/>
          </p:cNvSpPr>
          <p:nvPr/>
        </p:nvSpPr>
        <p:spPr>
          <a:xfrm>
            <a:off x="11618843" y="6370983"/>
            <a:ext cx="351182" cy="440632"/>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6</a:t>
            </a:r>
          </a:p>
        </p:txBody>
      </p:sp>
      <p:sp>
        <p:nvSpPr>
          <p:cNvPr id="9" name="Title 1">
            <a:extLst>
              <a:ext uri="{FF2B5EF4-FFF2-40B4-BE49-F238E27FC236}">
                <a16:creationId xmlns:a16="http://schemas.microsoft.com/office/drawing/2014/main" id="{3986B8C7-150F-BD9B-2668-EB5A27B98F89}"/>
              </a:ext>
            </a:extLst>
          </p:cNvPr>
          <p:cNvSpPr txBox="1">
            <a:spLocks/>
          </p:cNvSpPr>
          <p:nvPr/>
        </p:nvSpPr>
        <p:spPr>
          <a:xfrm>
            <a:off x="5293360" y="6529090"/>
            <a:ext cx="7149014" cy="297100"/>
          </a:xfrm>
          <a:prstGeom prst="rect">
            <a:avLst/>
          </a:prstGeom>
        </p:spPr>
        <p:txBody>
          <a:bodyPr wrap="square" anchor="b">
            <a:no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1400" dirty="0">
                <a:latin typeface="Arial Black" panose="020B0A04020102020204" pitchFamily="34" charset="0"/>
                <a:cs typeface="Times New Roman" panose="02020603050405020304" pitchFamily="18" charset="0"/>
              </a:rPr>
              <a:t>Figure 3: Flow Chart of Smart Vision Based Attendance System</a:t>
            </a:r>
          </a:p>
        </p:txBody>
      </p:sp>
      <p:sp>
        <p:nvSpPr>
          <p:cNvPr id="14" name="Title 1">
            <a:extLst>
              <a:ext uri="{FF2B5EF4-FFF2-40B4-BE49-F238E27FC236}">
                <a16:creationId xmlns:a16="http://schemas.microsoft.com/office/drawing/2014/main" id="{7EC60AAB-2CED-B7FB-8D4B-B4438A3005EC}"/>
              </a:ext>
            </a:extLst>
          </p:cNvPr>
          <p:cNvSpPr txBox="1">
            <a:spLocks/>
          </p:cNvSpPr>
          <p:nvPr/>
        </p:nvSpPr>
        <p:spPr>
          <a:xfrm flipH="1">
            <a:off x="596348" y="-80963"/>
            <a:ext cx="606287" cy="944216"/>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       </a:t>
            </a:r>
          </a:p>
        </p:txBody>
      </p:sp>
      <p:sp>
        <p:nvSpPr>
          <p:cNvPr id="17" name="Title 1">
            <a:extLst>
              <a:ext uri="{FF2B5EF4-FFF2-40B4-BE49-F238E27FC236}">
                <a16:creationId xmlns:a16="http://schemas.microsoft.com/office/drawing/2014/main" id="{4C740E73-58F9-2918-0DE1-B428AE017E52}"/>
              </a:ext>
            </a:extLst>
          </p:cNvPr>
          <p:cNvSpPr txBox="1">
            <a:spLocks/>
          </p:cNvSpPr>
          <p:nvPr/>
        </p:nvSpPr>
        <p:spPr>
          <a:xfrm>
            <a:off x="139149" y="116647"/>
            <a:ext cx="11926956" cy="1066110"/>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sz="2400" b="1" dirty="0">
                <a:latin typeface="Times New Roman" panose="02020603050405020304" pitchFamily="18" charset="0"/>
                <a:cs typeface="Times New Roman" panose="02020603050405020304" pitchFamily="18" charset="0"/>
              </a:rPr>
              <a:t>Smart Vision-Based Attendance System Using IOT and ML With Real Time Notifications</a:t>
            </a:r>
          </a:p>
        </p:txBody>
      </p:sp>
      <p:pic>
        <p:nvPicPr>
          <p:cNvPr id="2" name="Picture 1">
            <a:extLst>
              <a:ext uri="{FF2B5EF4-FFF2-40B4-BE49-F238E27FC236}">
                <a16:creationId xmlns:a16="http://schemas.microsoft.com/office/drawing/2014/main" id="{6C0649F1-BE9B-A751-FD96-CCC5E669A36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23925" y="649702"/>
            <a:ext cx="3644347" cy="5857113"/>
          </a:xfrm>
          <a:prstGeom prst="rect">
            <a:avLst/>
          </a:prstGeom>
          <a:noFill/>
          <a:ln>
            <a:noFill/>
          </a:ln>
        </p:spPr>
      </p:pic>
      <p:sp>
        <p:nvSpPr>
          <p:cNvPr id="5" name="TextBox 4">
            <a:extLst>
              <a:ext uri="{FF2B5EF4-FFF2-40B4-BE49-F238E27FC236}">
                <a16:creationId xmlns:a16="http://schemas.microsoft.com/office/drawing/2014/main" id="{390F57F8-E2E4-B24D-90E3-B9011262DACA}"/>
              </a:ext>
            </a:extLst>
          </p:cNvPr>
          <p:cNvSpPr txBox="1"/>
          <p:nvPr/>
        </p:nvSpPr>
        <p:spPr>
          <a:xfrm>
            <a:off x="662170" y="1060863"/>
            <a:ext cx="5989406" cy="6093976"/>
          </a:xfrm>
          <a:prstGeom prst="rect">
            <a:avLst/>
          </a:prstGeom>
          <a:noFill/>
        </p:spPr>
        <p:txBody>
          <a:bodyPr wrap="square">
            <a:spAutoFit/>
          </a:bodyPr>
          <a:lstStyle/>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the proposed system, student images are stored in the database and the camera automatically captures faces for recognition.</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the face matches the database, attendance is recorded instantly, if not, the student is marked absent and a notification is sent to parents.</a:t>
            </a:r>
          </a:p>
          <a:p>
            <a:pPr marL="342900" indent="-34290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system can recognize multiple students at the same time in a single frame, which saves time and works well in large classrooms</a:t>
            </a:r>
            <a:r>
              <a:rPr lang="en-US" sz="2400" dirty="0"/>
              <a:t>.</a:t>
            </a:r>
            <a:endParaRPr lang="en-IN"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3933000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F9D21-A980-84C4-6BAA-76C233BCE8F6}"/>
              </a:ext>
            </a:extLst>
          </p:cNvPr>
          <p:cNvSpPr txBox="1">
            <a:spLocks/>
          </p:cNvSpPr>
          <p:nvPr/>
        </p:nvSpPr>
        <p:spPr>
          <a:xfrm>
            <a:off x="221975" y="6124536"/>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sp>
        <p:nvSpPr>
          <p:cNvPr id="3" name="Title 1">
            <a:extLst>
              <a:ext uri="{FF2B5EF4-FFF2-40B4-BE49-F238E27FC236}">
                <a16:creationId xmlns:a16="http://schemas.microsoft.com/office/drawing/2014/main" id="{FA83C2A1-6252-7929-8851-B87D17401680}"/>
              </a:ext>
            </a:extLst>
          </p:cNvPr>
          <p:cNvSpPr txBox="1">
            <a:spLocks/>
          </p:cNvSpPr>
          <p:nvPr/>
        </p:nvSpPr>
        <p:spPr>
          <a:xfrm>
            <a:off x="110988" y="67028"/>
            <a:ext cx="11970024" cy="502241"/>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sz="2400" dirty="0"/>
              <a:t>    </a:t>
            </a:r>
            <a:r>
              <a:rPr lang="en-IN" sz="2400" b="1" dirty="0">
                <a:latin typeface="Times New Roman" panose="02020603050405020304" pitchFamily="18" charset="0"/>
                <a:cs typeface="Times New Roman" panose="02020603050405020304" pitchFamily="18" charset="0"/>
              </a:rPr>
              <a:t>DESIGN METHODOLOGY OF SMART VISION BASED ATTENDANCE SYSTEM  </a:t>
            </a:r>
          </a:p>
          <a:p>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7379CB0-B5DA-B65B-FC25-602F395DDEE3}"/>
              </a:ext>
            </a:extLst>
          </p:cNvPr>
          <p:cNvSpPr txBox="1"/>
          <p:nvPr/>
        </p:nvSpPr>
        <p:spPr>
          <a:xfrm>
            <a:off x="705678" y="1033670"/>
            <a:ext cx="5575853" cy="5724644"/>
          </a:xfrm>
          <a:prstGeom prst="rect">
            <a:avLst/>
          </a:prstGeom>
          <a:noFill/>
        </p:spPr>
        <p:txBody>
          <a:bodyPr wrap="square">
            <a:spAutoFit/>
          </a:bodyPr>
          <a:lstStyle/>
          <a:p>
            <a:pPr marL="342900" indent="-3429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IoT cameras capture student images and send them to an ML model for real-time face recognition.</a:t>
            </a:r>
          </a:p>
          <a:p>
            <a:pPr marL="342900" indent="-342900" algn="just">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Verified identities are time-stamped and stored in a secure attendance database.</a:t>
            </a:r>
          </a:p>
          <a:p>
            <a:pPr marL="342900" indent="-342900" algn="just">
              <a:buFont typeface="Wingdings" panose="05000000000000000000" pitchFamily="2" charset="2"/>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Parents receive instant SMS notifications when a student is marked absent.</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Faculty access an encrypted dashboard to view reports and manage student records.</a:t>
            </a:r>
            <a:endParaRPr lang="en-IN"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endParaRPr lang="en-IN" dirty="0"/>
          </a:p>
        </p:txBody>
      </p:sp>
      <p:sp>
        <p:nvSpPr>
          <p:cNvPr id="6" name="Title 1">
            <a:extLst>
              <a:ext uri="{FF2B5EF4-FFF2-40B4-BE49-F238E27FC236}">
                <a16:creationId xmlns:a16="http://schemas.microsoft.com/office/drawing/2014/main" id="{6057387A-9D57-BAEB-4284-991EDE0A9373}"/>
              </a:ext>
            </a:extLst>
          </p:cNvPr>
          <p:cNvSpPr txBox="1">
            <a:spLocks/>
          </p:cNvSpPr>
          <p:nvPr/>
        </p:nvSpPr>
        <p:spPr>
          <a:xfrm>
            <a:off x="11618843" y="6370983"/>
            <a:ext cx="351182" cy="440632"/>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7</a:t>
            </a:r>
          </a:p>
        </p:txBody>
      </p:sp>
      <p:sp>
        <p:nvSpPr>
          <p:cNvPr id="8" name="Title 1">
            <a:extLst>
              <a:ext uri="{FF2B5EF4-FFF2-40B4-BE49-F238E27FC236}">
                <a16:creationId xmlns:a16="http://schemas.microsoft.com/office/drawing/2014/main" id="{16A76A51-7DEA-F883-1B3A-F255EE4FFAF0}"/>
              </a:ext>
            </a:extLst>
          </p:cNvPr>
          <p:cNvSpPr txBox="1">
            <a:spLocks/>
          </p:cNvSpPr>
          <p:nvPr/>
        </p:nvSpPr>
        <p:spPr>
          <a:xfrm>
            <a:off x="7832034" y="6259529"/>
            <a:ext cx="4137991" cy="502241"/>
          </a:xfrm>
          <a:prstGeom prst="rect">
            <a:avLst/>
          </a:prstGeom>
        </p:spPr>
        <p:txBody>
          <a:bodyPr wrap="square" anchor="b">
            <a:no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1400" dirty="0">
                <a:latin typeface="Arial Black" panose="020B0A04020102020204" pitchFamily="34" charset="0"/>
                <a:cs typeface="Times New Roman" panose="02020603050405020304" pitchFamily="18" charset="0"/>
              </a:rPr>
              <a:t>Figure 4: Design Methodology of Smart  Vision </a:t>
            </a:r>
            <a:r>
              <a:rPr lang="en-US" sz="1400" dirty="0" err="1">
                <a:latin typeface="Arial Black" panose="020B0A04020102020204" pitchFamily="34" charset="0"/>
                <a:cs typeface="Times New Roman" panose="02020603050405020304" pitchFamily="18" charset="0"/>
              </a:rPr>
              <a:t>BasedAttendance</a:t>
            </a:r>
            <a:r>
              <a:rPr lang="en-US" sz="1400" dirty="0">
                <a:latin typeface="Arial Black" panose="020B0A04020102020204" pitchFamily="34" charset="0"/>
                <a:cs typeface="Times New Roman" panose="02020603050405020304" pitchFamily="18" charset="0"/>
              </a:rPr>
              <a:t> System  </a:t>
            </a:r>
          </a:p>
        </p:txBody>
      </p:sp>
      <p:sp>
        <p:nvSpPr>
          <p:cNvPr id="11" name="Rectangle: Rounded Corners 10">
            <a:extLst>
              <a:ext uri="{FF2B5EF4-FFF2-40B4-BE49-F238E27FC236}">
                <a16:creationId xmlns:a16="http://schemas.microsoft.com/office/drawing/2014/main" id="{7CC88E7F-33B2-A3E9-B7BF-11F27D0DE291}"/>
              </a:ext>
            </a:extLst>
          </p:cNvPr>
          <p:cNvSpPr/>
          <p:nvPr/>
        </p:nvSpPr>
        <p:spPr>
          <a:xfrm>
            <a:off x="8806069" y="509232"/>
            <a:ext cx="2282688" cy="92433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Image Acquisition</a:t>
            </a:r>
          </a:p>
        </p:txBody>
      </p:sp>
      <p:sp>
        <p:nvSpPr>
          <p:cNvPr id="12" name="Rectangle: Rounded Corners 11">
            <a:extLst>
              <a:ext uri="{FF2B5EF4-FFF2-40B4-BE49-F238E27FC236}">
                <a16:creationId xmlns:a16="http://schemas.microsoft.com/office/drawing/2014/main" id="{18573046-27A2-8D93-D9BD-B1E988B46987}"/>
              </a:ext>
            </a:extLst>
          </p:cNvPr>
          <p:cNvSpPr/>
          <p:nvPr/>
        </p:nvSpPr>
        <p:spPr>
          <a:xfrm>
            <a:off x="8804412" y="1668204"/>
            <a:ext cx="2282688" cy="92433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Real Time Face Recognition</a:t>
            </a:r>
          </a:p>
        </p:txBody>
      </p:sp>
      <p:sp>
        <p:nvSpPr>
          <p:cNvPr id="13" name="Rectangle: Rounded Corners 12">
            <a:extLst>
              <a:ext uri="{FF2B5EF4-FFF2-40B4-BE49-F238E27FC236}">
                <a16:creationId xmlns:a16="http://schemas.microsoft.com/office/drawing/2014/main" id="{6165C131-26F4-1F94-D52A-6879587954E7}"/>
              </a:ext>
            </a:extLst>
          </p:cNvPr>
          <p:cNvSpPr/>
          <p:nvPr/>
        </p:nvSpPr>
        <p:spPr>
          <a:xfrm>
            <a:off x="8827500" y="2871067"/>
            <a:ext cx="2236512" cy="92433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Attendance Verification &amp;Storage</a:t>
            </a:r>
          </a:p>
        </p:txBody>
      </p:sp>
      <p:sp>
        <p:nvSpPr>
          <p:cNvPr id="17" name="Rectangle: Rounded Corners 16">
            <a:extLst>
              <a:ext uri="{FF2B5EF4-FFF2-40B4-BE49-F238E27FC236}">
                <a16:creationId xmlns:a16="http://schemas.microsoft.com/office/drawing/2014/main" id="{BB53490F-7D90-8FD7-06A6-3D9E76CA2EC8}"/>
              </a:ext>
            </a:extLst>
          </p:cNvPr>
          <p:cNvSpPr/>
          <p:nvPr/>
        </p:nvSpPr>
        <p:spPr>
          <a:xfrm>
            <a:off x="8850589" y="4050932"/>
            <a:ext cx="2236511" cy="86430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Notification Alerts</a:t>
            </a:r>
          </a:p>
        </p:txBody>
      </p:sp>
      <p:sp>
        <p:nvSpPr>
          <p:cNvPr id="18" name="Rectangle: Rounded Corners 17">
            <a:extLst>
              <a:ext uri="{FF2B5EF4-FFF2-40B4-BE49-F238E27FC236}">
                <a16:creationId xmlns:a16="http://schemas.microsoft.com/office/drawing/2014/main" id="{14EADF74-C3FA-7B00-87AC-A8CECBAED52C}"/>
              </a:ext>
            </a:extLst>
          </p:cNvPr>
          <p:cNvSpPr/>
          <p:nvPr/>
        </p:nvSpPr>
        <p:spPr>
          <a:xfrm>
            <a:off x="8850590" y="5272047"/>
            <a:ext cx="2236510" cy="86430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Faculty Dashboard Access</a:t>
            </a:r>
          </a:p>
        </p:txBody>
      </p:sp>
      <p:cxnSp>
        <p:nvCxnSpPr>
          <p:cNvPr id="20" name="Straight Arrow Connector 19">
            <a:extLst>
              <a:ext uri="{FF2B5EF4-FFF2-40B4-BE49-F238E27FC236}">
                <a16:creationId xmlns:a16="http://schemas.microsoft.com/office/drawing/2014/main" id="{3364C9C5-AEB0-1497-4245-2159F2BFC5E0}"/>
              </a:ext>
            </a:extLst>
          </p:cNvPr>
          <p:cNvCxnSpPr>
            <a:cxnSpLocks/>
            <a:stCxn id="11" idx="2"/>
            <a:endCxn id="12" idx="0"/>
          </p:cNvCxnSpPr>
          <p:nvPr/>
        </p:nvCxnSpPr>
        <p:spPr>
          <a:xfrm flipH="1">
            <a:off x="9945756" y="1433571"/>
            <a:ext cx="1657" cy="2346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80086AB2-A1BE-5962-7830-9C965092E60F}"/>
              </a:ext>
            </a:extLst>
          </p:cNvPr>
          <p:cNvCxnSpPr>
            <a:cxnSpLocks/>
            <a:stCxn id="12" idx="2"/>
            <a:endCxn id="13" idx="0"/>
          </p:cNvCxnSpPr>
          <p:nvPr/>
        </p:nvCxnSpPr>
        <p:spPr>
          <a:xfrm>
            <a:off x="9945756" y="2592543"/>
            <a:ext cx="0" cy="2785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06E4805D-B265-0B50-5C9F-66AB7548DBD7}"/>
              </a:ext>
            </a:extLst>
          </p:cNvPr>
          <p:cNvCxnSpPr>
            <a:cxnSpLocks/>
            <a:stCxn id="13" idx="2"/>
          </p:cNvCxnSpPr>
          <p:nvPr/>
        </p:nvCxnSpPr>
        <p:spPr>
          <a:xfrm>
            <a:off x="9945756" y="3795406"/>
            <a:ext cx="0" cy="2346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B7CFC07F-DDC1-2309-97B1-167609A1EA6E}"/>
              </a:ext>
            </a:extLst>
          </p:cNvPr>
          <p:cNvCxnSpPr>
            <a:cxnSpLocks/>
            <a:stCxn id="17" idx="2"/>
            <a:endCxn id="18" idx="0"/>
          </p:cNvCxnSpPr>
          <p:nvPr/>
        </p:nvCxnSpPr>
        <p:spPr>
          <a:xfrm>
            <a:off x="9968845" y="4915234"/>
            <a:ext cx="0" cy="3568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34179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EF3590-0D5A-0EF2-61EC-F1311D925B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0511" y="1411356"/>
            <a:ext cx="7059473" cy="4677227"/>
          </a:xfrm>
          <a:prstGeom prst="rect">
            <a:avLst/>
          </a:prstGeom>
        </p:spPr>
      </p:pic>
      <p:sp>
        <p:nvSpPr>
          <p:cNvPr id="3" name="Title 1">
            <a:extLst>
              <a:ext uri="{FF2B5EF4-FFF2-40B4-BE49-F238E27FC236}">
                <a16:creationId xmlns:a16="http://schemas.microsoft.com/office/drawing/2014/main" id="{6301CEF4-9415-FC86-3734-AE9499854C17}"/>
              </a:ext>
            </a:extLst>
          </p:cNvPr>
          <p:cNvSpPr txBox="1">
            <a:spLocks/>
          </p:cNvSpPr>
          <p:nvPr/>
        </p:nvSpPr>
        <p:spPr>
          <a:xfrm>
            <a:off x="149086" y="153744"/>
            <a:ext cx="11946835" cy="1018472"/>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pPr algn="ctr"/>
            <a:r>
              <a:rPr lang="en-IN" sz="2800" b="1" dirty="0">
                <a:latin typeface="Times New Roman" panose="02020603050405020304" pitchFamily="18" charset="0"/>
                <a:cs typeface="Times New Roman" panose="02020603050405020304" pitchFamily="18" charset="0"/>
              </a:rPr>
              <a:t>Block Diagram of Smart Vision Based Attendance System Using  IoT and ML With Real Time Notifications </a:t>
            </a:r>
          </a:p>
          <a:p>
            <a:pPr algn="ctr"/>
            <a:endParaRPr lang="en-IN" sz="28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F977868E-95EE-4A92-BBCC-95CE453F4D21}"/>
              </a:ext>
            </a:extLst>
          </p:cNvPr>
          <p:cNvSpPr txBox="1">
            <a:spLocks/>
          </p:cNvSpPr>
          <p:nvPr/>
        </p:nvSpPr>
        <p:spPr>
          <a:xfrm>
            <a:off x="3935896" y="6158758"/>
            <a:ext cx="5078895" cy="366544"/>
          </a:xfrm>
          <a:prstGeom prst="rect">
            <a:avLst/>
          </a:prstGeom>
        </p:spPr>
        <p:txBody>
          <a:bodyPr wrap="square" anchor="b">
            <a:no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1400" dirty="0">
                <a:latin typeface="Arial Black" panose="020B0A04020102020204" pitchFamily="34" charset="0"/>
                <a:cs typeface="Times New Roman" panose="02020603050405020304" pitchFamily="18" charset="0"/>
              </a:rPr>
              <a:t>Figure 5: Block Diagram of Proposed System</a:t>
            </a:r>
          </a:p>
        </p:txBody>
      </p:sp>
      <p:sp>
        <p:nvSpPr>
          <p:cNvPr id="5" name="Title 1">
            <a:extLst>
              <a:ext uri="{FF2B5EF4-FFF2-40B4-BE49-F238E27FC236}">
                <a16:creationId xmlns:a16="http://schemas.microsoft.com/office/drawing/2014/main" id="{1AA0AE05-DB7B-8B10-96DE-1DCB13EA76E8}"/>
              </a:ext>
            </a:extLst>
          </p:cNvPr>
          <p:cNvSpPr txBox="1">
            <a:spLocks/>
          </p:cNvSpPr>
          <p:nvPr/>
        </p:nvSpPr>
        <p:spPr>
          <a:xfrm>
            <a:off x="11618843" y="6370983"/>
            <a:ext cx="351182" cy="440632"/>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8</a:t>
            </a:r>
          </a:p>
        </p:txBody>
      </p:sp>
      <p:sp>
        <p:nvSpPr>
          <p:cNvPr id="6" name="Title 1">
            <a:extLst>
              <a:ext uri="{FF2B5EF4-FFF2-40B4-BE49-F238E27FC236}">
                <a16:creationId xmlns:a16="http://schemas.microsoft.com/office/drawing/2014/main" id="{101DFC32-75DF-6D4F-1071-D6C8B909C6BF}"/>
              </a:ext>
            </a:extLst>
          </p:cNvPr>
          <p:cNvSpPr txBox="1">
            <a:spLocks/>
          </p:cNvSpPr>
          <p:nvPr/>
        </p:nvSpPr>
        <p:spPr>
          <a:xfrm>
            <a:off x="221975" y="6124536"/>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spTree>
    <p:extLst>
      <p:ext uri="{BB962C8B-B14F-4D97-AF65-F5344CB8AC3E}">
        <p14:creationId xmlns:p14="http://schemas.microsoft.com/office/powerpoint/2010/main" val="1504957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AA05BD6-5245-4438-8B50-011FBD153F91}"/>
              </a:ext>
            </a:extLst>
          </p:cNvPr>
          <p:cNvGraphicFramePr>
            <a:graphicFrameLocks noGrp="1"/>
          </p:cNvGraphicFramePr>
          <p:nvPr>
            <p:extLst>
              <p:ext uri="{D42A27DB-BD31-4B8C-83A1-F6EECF244321}">
                <p14:modId xmlns:p14="http://schemas.microsoft.com/office/powerpoint/2010/main" val="2792038676"/>
              </p:ext>
            </p:extLst>
          </p:nvPr>
        </p:nvGraphicFramePr>
        <p:xfrm>
          <a:off x="695739" y="854765"/>
          <a:ext cx="11231218" cy="4516052"/>
        </p:xfrm>
        <a:graphic>
          <a:graphicData uri="http://schemas.openxmlformats.org/drawingml/2006/table">
            <a:tbl>
              <a:tblPr>
                <a:tableStyleId>{616DA210-FB5B-4158-B5E0-FEB733F419BA}</a:tableStyleId>
              </a:tblPr>
              <a:tblGrid>
                <a:gridCol w="646044">
                  <a:extLst>
                    <a:ext uri="{9D8B030D-6E8A-4147-A177-3AD203B41FA5}">
                      <a16:colId xmlns:a16="http://schemas.microsoft.com/office/drawing/2014/main" val="965950500"/>
                    </a:ext>
                  </a:extLst>
                </a:gridCol>
                <a:gridCol w="1564356">
                  <a:extLst>
                    <a:ext uri="{9D8B030D-6E8A-4147-A177-3AD203B41FA5}">
                      <a16:colId xmlns:a16="http://schemas.microsoft.com/office/drawing/2014/main" val="667806439"/>
                    </a:ext>
                  </a:extLst>
                </a:gridCol>
                <a:gridCol w="3897930">
                  <a:extLst>
                    <a:ext uri="{9D8B030D-6E8A-4147-A177-3AD203B41FA5}">
                      <a16:colId xmlns:a16="http://schemas.microsoft.com/office/drawing/2014/main" val="1855916225"/>
                    </a:ext>
                  </a:extLst>
                </a:gridCol>
                <a:gridCol w="5122888">
                  <a:extLst>
                    <a:ext uri="{9D8B030D-6E8A-4147-A177-3AD203B41FA5}">
                      <a16:colId xmlns:a16="http://schemas.microsoft.com/office/drawing/2014/main" val="1639256198"/>
                    </a:ext>
                  </a:extLst>
                </a:gridCol>
              </a:tblGrid>
              <a:tr h="574376">
                <a:tc>
                  <a:txBody>
                    <a:bodyPr/>
                    <a:lstStyle/>
                    <a:p>
                      <a:pPr>
                        <a:buNone/>
                      </a:pPr>
                      <a:r>
                        <a:rPr lang="en-IN" sz="1400" b="1" dirty="0" err="1">
                          <a:latin typeface="Times New Roman" panose="02020603050405020304" pitchFamily="18" charset="0"/>
                          <a:cs typeface="Times New Roman" panose="02020603050405020304" pitchFamily="18" charset="0"/>
                        </a:rPr>
                        <a:t>S.No</a:t>
                      </a:r>
                      <a:r>
                        <a:rPr lang="en-IN" sz="1400" b="1">
                          <a:latin typeface="Times New Roman" panose="02020603050405020304" pitchFamily="18" charset="0"/>
                          <a:cs typeface="Times New Roman" panose="02020603050405020304" pitchFamily="18" charset="0"/>
                        </a:rPr>
                        <a:t>.</a:t>
                      </a:r>
                      <a:endParaRPr lang="en-IN" sz="14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    Tools used</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                             Usage</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                                        Specifications</a:t>
                      </a:r>
                    </a:p>
                  </a:txBody>
                  <a:tcPr anchor="ctr"/>
                </a:tc>
                <a:extLst>
                  <a:ext uri="{0D108BD9-81ED-4DB2-BD59-A6C34878D82A}">
                    <a16:rowId xmlns:a16="http://schemas.microsoft.com/office/drawing/2014/main" val="3773399224"/>
                  </a:ext>
                </a:extLst>
              </a:tr>
              <a:tr h="0">
                <a:tc>
                  <a:txBody>
                    <a:bodyPr/>
                    <a:lstStyle/>
                    <a:p>
                      <a:pPr>
                        <a:buNone/>
                      </a:pPr>
                      <a:r>
                        <a:rPr lang="en-IN" sz="1400" b="1" dirty="0">
                          <a:latin typeface="Times New Roman" panose="02020603050405020304" pitchFamily="18" charset="0"/>
                          <a:cs typeface="Times New Roman" panose="02020603050405020304" pitchFamily="18" charset="0"/>
                        </a:rPr>
                        <a:t>1.</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Raspberry pi OS</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Runs the attendance system and manages hardware operations.</a:t>
                      </a:r>
                      <a:endParaRPr lang="en-US" sz="1600" b="1" i="0" dirty="0">
                        <a:latin typeface="Times New Roman" panose="02020603050405020304" pitchFamily="18" charset="0"/>
                        <a:cs typeface="Times New Roman" panose="02020603050405020304" pitchFamily="18" charset="0"/>
                      </a:endParaRPr>
                    </a:p>
                  </a:txBody>
                  <a:tcPr anchor="ctr"/>
                </a:tc>
                <a:tc>
                  <a:txBody>
                    <a:bodyPr/>
                    <a:lstStyle/>
                    <a:p>
                      <a:pPr algn="just"/>
                      <a:r>
                        <a:rPr lang="en-IN" sz="1400" dirty="0">
                          <a:latin typeface="Times New Roman" panose="02020603050405020304" pitchFamily="18" charset="0"/>
                          <a:cs typeface="Times New Roman" panose="02020603050405020304" pitchFamily="18" charset="0"/>
                        </a:rPr>
                        <a:t>        </a:t>
                      </a:r>
                    </a:p>
                    <a:p>
                      <a:pPr algn="just"/>
                      <a:r>
                        <a:rPr lang="en-IN" sz="14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ARM support, Python compatible.</a:t>
                      </a:r>
                    </a:p>
                    <a:p>
                      <a:pPr algn="just"/>
                      <a:endParaRPr lang="en-US" sz="16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05247468"/>
                  </a:ext>
                </a:extLst>
              </a:tr>
              <a:tr h="1093304">
                <a:tc>
                  <a:txBody>
                    <a:bodyPr/>
                    <a:lstStyle/>
                    <a:p>
                      <a:pPr>
                        <a:buNone/>
                      </a:pPr>
                      <a:r>
                        <a:rPr lang="en-IN" sz="1400" b="1">
                          <a:latin typeface="Times New Roman" panose="02020603050405020304" pitchFamily="18" charset="0"/>
                          <a:cs typeface="Times New Roman" panose="02020603050405020304" pitchFamily="18" charset="0"/>
                        </a:rPr>
                        <a:t>2.</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Python</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Develops face recognition and attendance processing logic.</a:t>
                      </a:r>
                      <a:endParaRPr lang="en-US" sz="1600" b="1" i="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Python 3.8, supports ML &amp; IoT libraries.</a:t>
                      </a:r>
                      <a:endParaRPr lang="en-US" sz="16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52731854"/>
                  </a:ext>
                </a:extLst>
              </a:tr>
              <a:tr h="921266">
                <a:tc>
                  <a:txBody>
                    <a:bodyPr/>
                    <a:lstStyle/>
                    <a:p>
                      <a:pPr>
                        <a:buNone/>
                      </a:pPr>
                      <a:r>
                        <a:rPr lang="en-IN" sz="1400" b="1">
                          <a:latin typeface="Times New Roman" panose="02020603050405020304" pitchFamily="18" charset="0"/>
                          <a:cs typeface="Times New Roman" panose="02020603050405020304" pitchFamily="18" charset="0"/>
                        </a:rPr>
                        <a:t>3.</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OpenCV</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Performs real-time face detection and image processing from video input</a:t>
                      </a:r>
                      <a:r>
                        <a:rPr lang="en-US" sz="1600" dirty="0"/>
                        <a:t>.</a:t>
                      </a:r>
                      <a:endParaRPr lang="en-US" sz="1600" b="1" i="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OpenCV 4.5 with LBPH face recognition support</a:t>
                      </a:r>
                      <a:r>
                        <a:rPr lang="en-US" sz="1400" dirty="0">
                          <a:latin typeface="Times New Roman" panose="02020603050405020304" pitchFamily="18" charset="0"/>
                          <a:cs typeface="Times New Roman" panose="02020603050405020304" pitchFamily="18" charset="0"/>
                        </a:rPr>
                        <a:t>.</a:t>
                      </a:r>
                      <a:endParaRPr lang="en-US" sz="14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93193074"/>
                  </a:ext>
                </a:extLst>
              </a:tr>
              <a:tr h="921266">
                <a:tc>
                  <a:txBody>
                    <a:bodyPr/>
                    <a:lstStyle/>
                    <a:p>
                      <a:pPr>
                        <a:buNone/>
                      </a:pPr>
                      <a:r>
                        <a:rPr lang="en-IN" sz="1400" b="1" dirty="0">
                          <a:latin typeface="Times New Roman" panose="02020603050405020304" pitchFamily="18" charset="0"/>
                          <a:cs typeface="Times New Roman" panose="02020603050405020304" pitchFamily="18" charset="0"/>
                        </a:rPr>
                        <a:t>4.</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Libraries</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Supports ML model, data handling</a:t>
                      </a:r>
                      <a:r>
                        <a:rPr lang="en-US" sz="1600" dirty="0"/>
                        <a:t>.</a:t>
                      </a:r>
                      <a:endParaRPr lang="en-US" sz="1600" dirty="0">
                        <a:latin typeface="Times New Roman" panose="02020603050405020304" pitchFamily="18" charset="0"/>
                        <a:cs typeface="Times New Roman" panose="02020603050405020304" pitchFamily="18" charset="0"/>
                      </a:endParaRPr>
                    </a:p>
                    <a:p>
                      <a:pPr>
                        <a:buNone/>
                      </a:pPr>
                      <a:endParaRPr lang="en-US" sz="1400" b="1" i="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NumPy, Pandas.</a:t>
                      </a:r>
                      <a:endParaRPr lang="en-US" sz="16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24713158"/>
                  </a:ext>
                </a:extLst>
              </a:tr>
            </a:tbl>
          </a:graphicData>
        </a:graphic>
      </p:graphicFrame>
      <p:sp>
        <p:nvSpPr>
          <p:cNvPr id="3" name="Title 1">
            <a:extLst>
              <a:ext uri="{FF2B5EF4-FFF2-40B4-BE49-F238E27FC236}">
                <a16:creationId xmlns:a16="http://schemas.microsoft.com/office/drawing/2014/main" id="{A828F051-7002-017C-18AF-A77E3B52656E}"/>
              </a:ext>
            </a:extLst>
          </p:cNvPr>
          <p:cNvSpPr txBox="1">
            <a:spLocks/>
          </p:cNvSpPr>
          <p:nvPr/>
        </p:nvSpPr>
        <p:spPr>
          <a:xfrm>
            <a:off x="922681" y="149087"/>
            <a:ext cx="10455965" cy="566530"/>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b="1" dirty="0"/>
              <a:t>                              </a:t>
            </a:r>
            <a:r>
              <a:rPr lang="en-US" b="1" dirty="0">
                <a:latin typeface="Times New Roman" panose="02020603050405020304" pitchFamily="18" charset="0"/>
                <a:cs typeface="Times New Roman" panose="02020603050405020304" pitchFamily="18" charset="0"/>
              </a:rPr>
              <a:t>SOFTWARE TOOLS </a:t>
            </a:r>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F0E0D672-3BA0-4C85-DC0D-4EBF76D19AD7}"/>
              </a:ext>
            </a:extLst>
          </p:cNvPr>
          <p:cNvSpPr/>
          <p:nvPr/>
        </p:nvSpPr>
        <p:spPr>
          <a:xfrm>
            <a:off x="100033" y="6308803"/>
            <a:ext cx="2036880" cy="1938992"/>
          </a:xfrm>
          <a:prstGeom prst="rect">
            <a:avLst/>
          </a:prstGeom>
          <a:noFill/>
        </p:spPr>
        <p:txBody>
          <a:bodyPr wrap="square" lIns="91440" tIns="45720" rIns="91440" bIns="45720">
            <a:spAutoFit/>
          </a:bodyPr>
          <a:lstStyle/>
          <a:p>
            <a:r>
              <a:rPr lang="en-US" sz="2000" dirty="0">
                <a:latin typeface="Times New Roman" panose="02020603050405020304" pitchFamily="18" charset="0"/>
                <a:cs typeface="Times New Roman" panose="02020603050405020304" pitchFamily="18" charset="0"/>
              </a:rPr>
              <a:t>Date:25-02-2026											       </a:t>
            </a:r>
          </a:p>
        </p:txBody>
      </p:sp>
      <p:sp>
        <p:nvSpPr>
          <p:cNvPr id="5" name="Title 1">
            <a:extLst>
              <a:ext uri="{FF2B5EF4-FFF2-40B4-BE49-F238E27FC236}">
                <a16:creationId xmlns:a16="http://schemas.microsoft.com/office/drawing/2014/main" id="{ACA14498-ACD9-998F-28DE-E998275094F6}"/>
              </a:ext>
            </a:extLst>
          </p:cNvPr>
          <p:cNvSpPr txBox="1">
            <a:spLocks/>
          </p:cNvSpPr>
          <p:nvPr/>
        </p:nvSpPr>
        <p:spPr>
          <a:xfrm>
            <a:off x="11618843" y="6370983"/>
            <a:ext cx="351182" cy="440632"/>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9</a:t>
            </a:r>
          </a:p>
        </p:txBody>
      </p:sp>
    </p:spTree>
    <p:extLst>
      <p:ext uri="{BB962C8B-B14F-4D97-AF65-F5344CB8AC3E}">
        <p14:creationId xmlns:p14="http://schemas.microsoft.com/office/powerpoint/2010/main" val="3337328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B03AB-BDE5-DD1A-E61D-2AE7EEC2B896}"/>
              </a:ext>
            </a:extLst>
          </p:cNvPr>
          <p:cNvSpPr txBox="1">
            <a:spLocks/>
          </p:cNvSpPr>
          <p:nvPr/>
        </p:nvSpPr>
        <p:spPr>
          <a:xfrm>
            <a:off x="922681" y="149087"/>
            <a:ext cx="10455965" cy="566530"/>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b="1" dirty="0"/>
              <a:t>                          </a:t>
            </a:r>
            <a:r>
              <a:rPr lang="en-IN" b="1" dirty="0">
                <a:latin typeface="Times New Roman" panose="02020603050405020304" pitchFamily="18" charset="0"/>
                <a:cs typeface="Times New Roman" panose="02020603050405020304" pitchFamily="18" charset="0"/>
              </a:rPr>
              <a:t>HARDWARE COMPONENTS</a:t>
            </a:r>
            <a:r>
              <a:rPr lang="en-US"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838D9EC-274B-5DC2-CAFA-EA39762DD435}"/>
              </a:ext>
            </a:extLst>
          </p:cNvPr>
          <p:cNvGraphicFramePr>
            <a:graphicFrameLocks noGrp="1"/>
          </p:cNvGraphicFramePr>
          <p:nvPr>
            <p:extLst>
              <p:ext uri="{D42A27DB-BD31-4B8C-83A1-F6EECF244321}">
                <p14:modId xmlns:p14="http://schemas.microsoft.com/office/powerpoint/2010/main" val="3141999960"/>
              </p:ext>
            </p:extLst>
          </p:nvPr>
        </p:nvGraphicFramePr>
        <p:xfrm>
          <a:off x="480391" y="715617"/>
          <a:ext cx="11231218" cy="5550559"/>
        </p:xfrm>
        <a:graphic>
          <a:graphicData uri="http://schemas.openxmlformats.org/drawingml/2006/table">
            <a:tbl>
              <a:tblPr>
                <a:tableStyleId>{616DA210-FB5B-4158-B5E0-FEB733F419BA}</a:tableStyleId>
              </a:tblPr>
              <a:tblGrid>
                <a:gridCol w="632792">
                  <a:extLst>
                    <a:ext uri="{9D8B030D-6E8A-4147-A177-3AD203B41FA5}">
                      <a16:colId xmlns:a16="http://schemas.microsoft.com/office/drawing/2014/main" val="965950500"/>
                    </a:ext>
                  </a:extLst>
                </a:gridCol>
                <a:gridCol w="1411356">
                  <a:extLst>
                    <a:ext uri="{9D8B030D-6E8A-4147-A177-3AD203B41FA5}">
                      <a16:colId xmlns:a16="http://schemas.microsoft.com/office/drawing/2014/main" val="667806439"/>
                    </a:ext>
                  </a:extLst>
                </a:gridCol>
                <a:gridCol w="4064182">
                  <a:extLst>
                    <a:ext uri="{9D8B030D-6E8A-4147-A177-3AD203B41FA5}">
                      <a16:colId xmlns:a16="http://schemas.microsoft.com/office/drawing/2014/main" val="1855916225"/>
                    </a:ext>
                  </a:extLst>
                </a:gridCol>
                <a:gridCol w="5122888">
                  <a:extLst>
                    <a:ext uri="{9D8B030D-6E8A-4147-A177-3AD203B41FA5}">
                      <a16:colId xmlns:a16="http://schemas.microsoft.com/office/drawing/2014/main" val="1639256198"/>
                    </a:ext>
                  </a:extLst>
                </a:gridCol>
              </a:tblGrid>
              <a:tr h="685937">
                <a:tc>
                  <a:txBody>
                    <a:bodyPr/>
                    <a:lstStyle/>
                    <a:p>
                      <a:pPr>
                        <a:buNone/>
                      </a:pPr>
                      <a:r>
                        <a:rPr lang="en-IN" sz="1400" b="1" dirty="0" err="1">
                          <a:latin typeface="Times New Roman" panose="02020603050405020304" pitchFamily="18" charset="0"/>
                          <a:cs typeface="Times New Roman" panose="02020603050405020304" pitchFamily="18" charset="0"/>
                        </a:rPr>
                        <a:t>S.No</a:t>
                      </a:r>
                      <a:r>
                        <a:rPr lang="en-IN" sz="1400" b="1" dirty="0">
                          <a:latin typeface="Times New Roman" panose="02020603050405020304" pitchFamily="18" charset="0"/>
                          <a:cs typeface="Times New Roman" panose="02020603050405020304" pitchFamily="18" charset="0"/>
                        </a:rPr>
                        <a:t>.</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  Components used</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                             Usage</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                                        Specifications</a:t>
                      </a:r>
                    </a:p>
                  </a:txBody>
                  <a:tcPr anchor="ctr"/>
                </a:tc>
                <a:extLst>
                  <a:ext uri="{0D108BD9-81ED-4DB2-BD59-A6C34878D82A}">
                    <a16:rowId xmlns:a16="http://schemas.microsoft.com/office/drawing/2014/main" val="3773399224"/>
                  </a:ext>
                </a:extLst>
              </a:tr>
              <a:tr h="972000">
                <a:tc>
                  <a:txBody>
                    <a:bodyPr/>
                    <a:lstStyle/>
                    <a:p>
                      <a:pPr>
                        <a:buNone/>
                      </a:pPr>
                      <a:r>
                        <a:rPr lang="en-IN" sz="1400" b="1">
                          <a:latin typeface="Times New Roman" panose="02020603050405020304" pitchFamily="18" charset="0"/>
                          <a:cs typeface="Times New Roman" panose="02020603050405020304" pitchFamily="18" charset="0"/>
                        </a:rPr>
                        <a:t>1.</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Raspberry pi OS</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Acts as the main controller for the system..</a:t>
                      </a:r>
                      <a:endParaRPr lang="en-US" sz="1600" b="1" i="0" dirty="0">
                        <a:latin typeface="Times New Roman" panose="02020603050405020304" pitchFamily="18" charset="0"/>
                        <a:cs typeface="Times New Roman" panose="02020603050405020304" pitchFamily="18" charset="0"/>
                      </a:endParaRPr>
                    </a:p>
                  </a:txBody>
                  <a:tcPr anchor="ctr"/>
                </a:tc>
                <a:tc>
                  <a:txBody>
                    <a:bodyPr/>
                    <a:lstStyle/>
                    <a:p>
                      <a:pPr algn="just"/>
                      <a:r>
                        <a:rPr lang="en-IN" sz="1400" dirty="0">
                          <a:latin typeface="Times New Roman" panose="02020603050405020304" pitchFamily="18" charset="0"/>
                          <a:cs typeface="Times New Roman" panose="02020603050405020304" pitchFamily="18" charset="0"/>
                        </a:rPr>
                        <a:t>        </a:t>
                      </a:r>
                    </a:p>
                    <a:p>
                      <a:pPr algn="just"/>
                      <a:r>
                        <a:rPr lang="en-IN" sz="1600" dirty="0">
                          <a:effectLst/>
                          <a:latin typeface="Times New Roman" panose="02020603050405020304" pitchFamily="18" charset="0"/>
                          <a:cs typeface="Times New Roman" panose="02020603050405020304" pitchFamily="18" charset="0"/>
                        </a:rPr>
                        <a:t>Quad-core1.5GHzprocessor, 4GB RAM, Wi-Fi, USB &amp; GPIO support.</a:t>
                      </a:r>
                      <a:endParaRPr lang="en-US" sz="16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05247468"/>
                  </a:ext>
                </a:extLst>
              </a:tr>
              <a:tr h="812884">
                <a:tc>
                  <a:txBody>
                    <a:bodyPr/>
                    <a:lstStyle/>
                    <a:p>
                      <a:pPr>
                        <a:buNone/>
                      </a:pPr>
                      <a:r>
                        <a:rPr lang="en-IN" sz="1400" b="1" dirty="0">
                          <a:latin typeface="Times New Roman" panose="02020603050405020304" pitchFamily="18" charset="0"/>
                          <a:cs typeface="Times New Roman" panose="02020603050405020304" pitchFamily="18" charset="0"/>
                        </a:rPr>
                        <a:t>2.</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SD card</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lgn="just"/>
                      <a:r>
                        <a:rPr lang="pt-BR" sz="1600" dirty="0">
                          <a:latin typeface="Times New Roman" panose="02020603050405020304" pitchFamily="18" charset="0"/>
                          <a:cs typeface="Times New Roman" panose="02020603050405020304" pitchFamily="18" charset="0"/>
                        </a:rPr>
                        <a:t>Stores OS, ML model, program code and attendance data.</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64GB, Class 10, high-speed read/write support.</a:t>
                      </a:r>
                    </a:p>
                    <a:p>
                      <a:pPr>
                        <a:buNone/>
                      </a:pPr>
                      <a:endParaRPr lang="en-US" sz="1600"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52731854"/>
                  </a:ext>
                </a:extLst>
              </a:tr>
              <a:tr h="779957">
                <a:tc>
                  <a:txBody>
                    <a:bodyPr/>
                    <a:lstStyle/>
                    <a:p>
                      <a:pPr>
                        <a:buNone/>
                      </a:pPr>
                      <a:r>
                        <a:rPr lang="en-IN" sz="1400" b="1">
                          <a:latin typeface="Times New Roman" panose="02020603050405020304" pitchFamily="18" charset="0"/>
                          <a:cs typeface="Times New Roman" panose="02020603050405020304" pitchFamily="18" charset="0"/>
                        </a:rPr>
                        <a:t>3.</a:t>
                      </a: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Camera</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lgn="just"/>
                      <a:r>
                        <a:rPr lang="en-US" sz="1600" dirty="0">
                          <a:latin typeface="Times New Roman" panose="02020603050405020304" pitchFamily="18" charset="0"/>
                          <a:cs typeface="Times New Roman" panose="02020603050405020304" pitchFamily="18" charset="0"/>
                        </a:rPr>
                        <a:t>Captures student faces for real-time recognition.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just"/>
                      <a:r>
                        <a:rPr lang="en-IN" sz="1600" dirty="0">
                          <a:latin typeface="Times New Roman" panose="02020603050405020304" pitchFamily="18" charset="0"/>
                          <a:cs typeface="Times New Roman" panose="02020603050405020304" pitchFamily="18" charset="0"/>
                        </a:rPr>
                        <a:t>1080p resolution, 30 FPS, USB interface.</a:t>
                      </a:r>
                    </a:p>
                  </a:txBody>
                  <a:tcPr anchor="ctr"/>
                </a:tc>
                <a:extLst>
                  <a:ext uri="{0D108BD9-81ED-4DB2-BD59-A6C34878D82A}">
                    <a16:rowId xmlns:a16="http://schemas.microsoft.com/office/drawing/2014/main" val="1593193074"/>
                  </a:ext>
                </a:extLst>
              </a:tr>
              <a:tr h="804858">
                <a:tc>
                  <a:txBody>
                    <a:bodyPr/>
                    <a:lstStyle/>
                    <a:p>
                      <a:pPr>
                        <a:buNone/>
                      </a:pPr>
                      <a:r>
                        <a:rPr lang="en-US" sz="1400" b="1" dirty="0">
                          <a:latin typeface="Times New Roman" panose="02020603050405020304" pitchFamily="18" charset="0"/>
                          <a:cs typeface="Times New Roman" panose="02020603050405020304" pitchFamily="18" charset="0"/>
                        </a:rPr>
                        <a:t>4.</a:t>
                      </a:r>
                      <a:endParaRPr lang="en-IN" sz="14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  GSM Module</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Sends real-time SMS attendance notifications to parents</a:t>
                      </a:r>
                    </a:p>
                    <a:p>
                      <a:pPr>
                        <a:buNone/>
                      </a:pPr>
                      <a:endParaRPr lang="en-US" sz="1400" b="1" i="0"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SIM800, quad-band GSM</a:t>
                      </a:r>
                    </a:p>
                    <a:p>
                      <a:pPr>
                        <a:buNone/>
                      </a:pPr>
                      <a:endParaRPr lang="en-IN"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21521075"/>
                  </a:ext>
                </a:extLst>
              </a:tr>
              <a:tr h="738923">
                <a:tc>
                  <a:txBody>
                    <a:bodyPr/>
                    <a:lstStyle/>
                    <a:p>
                      <a:pPr>
                        <a:buNone/>
                      </a:pPr>
                      <a:r>
                        <a:rPr lang="en-US" sz="1400" b="1" dirty="0">
                          <a:latin typeface="Times New Roman" panose="02020603050405020304" pitchFamily="18" charset="0"/>
                          <a:cs typeface="Times New Roman" panose="02020603050405020304" pitchFamily="18" charset="0"/>
                        </a:rPr>
                        <a:t>5.</a:t>
                      </a:r>
                      <a:endParaRPr lang="en-IN" sz="14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 LCD Display</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Displays student name and attendance status.</a:t>
                      </a:r>
                    </a:p>
                    <a:p>
                      <a:pPr>
                        <a:buNone/>
                      </a:pPr>
                      <a:endParaRPr lang="en-US" sz="1400" b="1" i="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16x2 LCD, I2C interface</a:t>
                      </a:r>
                    </a:p>
                  </a:txBody>
                  <a:tcPr anchor="ctr"/>
                </a:tc>
                <a:extLst>
                  <a:ext uri="{0D108BD9-81ED-4DB2-BD59-A6C34878D82A}">
                    <a16:rowId xmlns:a16="http://schemas.microsoft.com/office/drawing/2014/main" val="293749290"/>
                  </a:ext>
                </a:extLst>
              </a:tr>
              <a:tr h="756000">
                <a:tc>
                  <a:txBody>
                    <a:bodyPr/>
                    <a:lstStyle/>
                    <a:p>
                      <a:pPr>
                        <a:buNone/>
                      </a:pPr>
                      <a:r>
                        <a:rPr lang="en-US" sz="1400" b="1" dirty="0">
                          <a:latin typeface="Times New Roman" panose="02020603050405020304" pitchFamily="18" charset="0"/>
                          <a:cs typeface="Times New Roman" panose="02020603050405020304" pitchFamily="18" charset="0"/>
                        </a:rPr>
                        <a:t>6</a:t>
                      </a:r>
                      <a:r>
                        <a:rPr lang="en-IN" sz="1400" b="1" dirty="0">
                          <a:latin typeface="Times New Roman" panose="02020603050405020304" pitchFamily="18" charset="0"/>
                          <a:cs typeface="Times New Roman" panose="02020603050405020304" pitchFamily="18" charset="0"/>
                        </a:rPr>
                        <a:t>.</a:t>
                      </a: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Buzzer</a:t>
                      </a:r>
                      <a:endParaRPr lang="en-IN" sz="1600" b="1" dirty="0">
                        <a:latin typeface="Times New Roman" panose="02020603050405020304" pitchFamily="18" charset="0"/>
                        <a:cs typeface="Times New Roman" panose="02020603050405020304" pitchFamily="18" charset="0"/>
                      </a:endParaRPr>
                    </a:p>
                  </a:txBody>
                  <a:tcPr anchor="ctr"/>
                </a:tc>
                <a:tc>
                  <a:txBody>
                    <a:bodyPr/>
                    <a:lstStyle/>
                    <a:p>
                      <a:pPr algn="just"/>
                      <a:r>
                        <a:rPr lang="en-US" sz="1600" dirty="0">
                          <a:latin typeface="Times New Roman" panose="02020603050405020304" pitchFamily="18" charset="0"/>
                          <a:cs typeface="Times New Roman" panose="02020603050405020304" pitchFamily="18" charset="0"/>
                        </a:rPr>
                        <a:t>Provides an audio alert when the class ends.</a:t>
                      </a:r>
                    </a:p>
                    <a:p>
                      <a:pPr>
                        <a:buNone/>
                      </a:pPr>
                      <a:endParaRPr lang="en-US" sz="1400" b="1" i="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600" dirty="0">
                          <a:latin typeface="Times New Roman" panose="02020603050405020304" pitchFamily="18" charset="0"/>
                          <a:cs typeface="Times New Roman" panose="02020603050405020304" pitchFamily="18" charset="0"/>
                        </a:rPr>
                        <a:t>5V active buzzer</a:t>
                      </a:r>
                    </a:p>
                  </a:txBody>
                  <a:tcPr anchor="ctr"/>
                </a:tc>
                <a:extLst>
                  <a:ext uri="{0D108BD9-81ED-4DB2-BD59-A6C34878D82A}">
                    <a16:rowId xmlns:a16="http://schemas.microsoft.com/office/drawing/2014/main" val="1924713158"/>
                  </a:ext>
                </a:extLst>
              </a:tr>
            </a:tbl>
          </a:graphicData>
        </a:graphic>
      </p:graphicFrame>
      <p:sp>
        <p:nvSpPr>
          <p:cNvPr id="4" name="Rectangle 3">
            <a:extLst>
              <a:ext uri="{FF2B5EF4-FFF2-40B4-BE49-F238E27FC236}">
                <a16:creationId xmlns:a16="http://schemas.microsoft.com/office/drawing/2014/main" id="{44B94F0E-79AA-34B7-BC10-6CC8A6D03C3F}"/>
              </a:ext>
            </a:extLst>
          </p:cNvPr>
          <p:cNvSpPr/>
          <p:nvPr/>
        </p:nvSpPr>
        <p:spPr>
          <a:xfrm>
            <a:off x="0" y="6456497"/>
            <a:ext cx="2077278" cy="1938992"/>
          </a:xfrm>
          <a:prstGeom prst="rect">
            <a:avLst/>
          </a:prstGeom>
          <a:noFill/>
        </p:spPr>
        <p:txBody>
          <a:bodyPr wrap="square" lIns="91440" tIns="45720" rIns="91440" bIns="45720">
            <a:spAutoFit/>
          </a:bodyPr>
          <a:lstStyle/>
          <a:p>
            <a:r>
              <a:rPr lang="en-US" sz="2000" dirty="0">
                <a:latin typeface="Times New Roman" panose="02020603050405020304" pitchFamily="18" charset="0"/>
                <a:cs typeface="Times New Roman" panose="02020603050405020304" pitchFamily="18" charset="0"/>
              </a:rPr>
              <a:t>Date:25-02-2026											       </a:t>
            </a:r>
          </a:p>
        </p:txBody>
      </p:sp>
      <p:sp>
        <p:nvSpPr>
          <p:cNvPr id="5" name="Title 1">
            <a:extLst>
              <a:ext uri="{FF2B5EF4-FFF2-40B4-BE49-F238E27FC236}">
                <a16:creationId xmlns:a16="http://schemas.microsoft.com/office/drawing/2014/main" id="{A9B11D40-6F63-A0DF-0FED-50CDD02A82C9}"/>
              </a:ext>
            </a:extLst>
          </p:cNvPr>
          <p:cNvSpPr txBox="1">
            <a:spLocks/>
          </p:cNvSpPr>
          <p:nvPr/>
        </p:nvSpPr>
        <p:spPr>
          <a:xfrm>
            <a:off x="11519452" y="6456497"/>
            <a:ext cx="450573" cy="355118"/>
          </a:xfrm>
          <a:prstGeom prst="rect">
            <a:avLst/>
          </a:prstGeom>
        </p:spPr>
        <p:txBody>
          <a:bodyPr wrap="square" anchor="b">
            <a:normAutofit fontScale="92500" lnSpcReduction="10000"/>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10</a:t>
            </a:r>
          </a:p>
        </p:txBody>
      </p:sp>
    </p:spTree>
    <p:extLst>
      <p:ext uri="{BB962C8B-B14F-4D97-AF65-F5344CB8AC3E}">
        <p14:creationId xmlns:p14="http://schemas.microsoft.com/office/powerpoint/2010/main" val="3083421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74323-206C-BD6C-E781-1DCE99200C24}"/>
              </a:ext>
            </a:extLst>
          </p:cNvPr>
          <p:cNvSpPr txBox="1">
            <a:spLocks/>
          </p:cNvSpPr>
          <p:nvPr/>
        </p:nvSpPr>
        <p:spPr>
          <a:xfrm>
            <a:off x="897835" y="163682"/>
            <a:ext cx="10396330" cy="502241"/>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sz="3000" b="1" dirty="0"/>
              <a:t>                       </a:t>
            </a:r>
            <a:r>
              <a:rPr lang="en-IN" sz="3000" b="1" dirty="0">
                <a:latin typeface="Times New Roman" panose="02020603050405020304" pitchFamily="18" charset="0"/>
                <a:cs typeface="Times New Roman" panose="02020603050405020304" pitchFamily="18" charset="0"/>
              </a:rPr>
              <a:t>HARDWARE IMPLEMENTATION</a:t>
            </a:r>
          </a:p>
          <a:p>
            <a:r>
              <a:rPr lang="en-IN" sz="3000" b="1" dirty="0">
                <a:latin typeface="Times New Roman" panose="02020603050405020304" pitchFamily="18" charset="0"/>
                <a:cs typeface="Times New Roman" panose="02020603050405020304" pitchFamily="18" charset="0"/>
              </a:rPr>
              <a:t>  </a:t>
            </a:r>
          </a:p>
          <a:p>
            <a:endParaRPr lang="en-IN" sz="3000" b="1"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3711E83B-39CA-227F-F71C-CBAC5FCCC46A}"/>
              </a:ext>
            </a:extLst>
          </p:cNvPr>
          <p:cNvSpPr txBox="1">
            <a:spLocks/>
          </p:cNvSpPr>
          <p:nvPr/>
        </p:nvSpPr>
        <p:spPr>
          <a:xfrm>
            <a:off x="152401" y="6192077"/>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sp>
        <p:nvSpPr>
          <p:cNvPr id="5" name="AutoShape 4">
            <a:extLst>
              <a:ext uri="{FF2B5EF4-FFF2-40B4-BE49-F238E27FC236}">
                <a16:creationId xmlns:a16="http://schemas.microsoft.com/office/drawing/2014/main" id="{D3A9B545-6195-311C-4080-76176EE86D6B}"/>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a:extLst>
              <a:ext uri="{FF2B5EF4-FFF2-40B4-BE49-F238E27FC236}">
                <a16:creationId xmlns:a16="http://schemas.microsoft.com/office/drawing/2014/main" id="{D0DD7965-F6F8-F745-438C-7584C8DB989A}"/>
              </a:ext>
            </a:extLst>
          </p:cNvPr>
          <p:cNvSpPr>
            <a:spLocks noChangeAspect="1" noChangeArrowheads="1"/>
          </p:cNvSpPr>
          <p:nvPr/>
        </p:nvSpPr>
        <p:spPr bwMode="auto">
          <a:xfrm>
            <a:off x="327991" y="-2339009"/>
            <a:ext cx="6225209" cy="622520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8">
            <a:extLst>
              <a:ext uri="{FF2B5EF4-FFF2-40B4-BE49-F238E27FC236}">
                <a16:creationId xmlns:a16="http://schemas.microsoft.com/office/drawing/2014/main" id="{1EB01AFB-FDF4-254A-8454-F8378454DA7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072DC3DC-52A5-2B00-40BF-59F54A278E0B}"/>
              </a:ext>
            </a:extLst>
          </p:cNvPr>
          <p:cNvPicPr>
            <a:picLocks noChangeAspect="1"/>
          </p:cNvPicPr>
          <p:nvPr/>
        </p:nvPicPr>
        <p:blipFill>
          <a:blip r:embed="rId2">
            <a:extLst>
              <a:ext uri="{28A0092B-C50C-407E-A947-70E740481C1C}">
                <a14:useLocalDpi xmlns:a14="http://schemas.microsoft.com/office/drawing/2010/main" val="0"/>
              </a:ext>
            </a:extLst>
          </a:blip>
          <a:srcRect t="4007" b="1386"/>
          <a:stretch>
            <a:fillRect/>
          </a:stretch>
        </p:blipFill>
        <p:spPr>
          <a:xfrm>
            <a:off x="1087021" y="907774"/>
            <a:ext cx="4249949" cy="5042452"/>
          </a:xfrm>
          <a:prstGeom prst="rect">
            <a:avLst/>
          </a:prstGeom>
        </p:spPr>
      </p:pic>
      <p:pic>
        <p:nvPicPr>
          <p:cNvPr id="11" name="Picture 10">
            <a:extLst>
              <a:ext uri="{FF2B5EF4-FFF2-40B4-BE49-F238E27FC236}">
                <a16:creationId xmlns:a16="http://schemas.microsoft.com/office/drawing/2014/main" id="{863DF00A-422A-6345-B220-2CC5D55D91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800" y="984506"/>
            <a:ext cx="5310809" cy="4888987"/>
          </a:xfrm>
          <a:prstGeom prst="rect">
            <a:avLst/>
          </a:prstGeom>
        </p:spPr>
      </p:pic>
      <p:sp>
        <p:nvSpPr>
          <p:cNvPr id="4" name="Title 1">
            <a:extLst>
              <a:ext uri="{FF2B5EF4-FFF2-40B4-BE49-F238E27FC236}">
                <a16:creationId xmlns:a16="http://schemas.microsoft.com/office/drawing/2014/main" id="{3C7F873C-455B-4BA2-5EFD-B10245502D1A}"/>
              </a:ext>
            </a:extLst>
          </p:cNvPr>
          <p:cNvSpPr txBox="1">
            <a:spLocks/>
          </p:cNvSpPr>
          <p:nvPr/>
        </p:nvSpPr>
        <p:spPr>
          <a:xfrm>
            <a:off x="2127526" y="5796809"/>
            <a:ext cx="8546548" cy="639416"/>
          </a:xfrm>
          <a:prstGeom prst="rect">
            <a:avLst/>
          </a:prstGeom>
        </p:spPr>
        <p:txBody>
          <a:bodyPr wrap="square" anchor="b">
            <a:no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1400" dirty="0">
                <a:latin typeface="Arial Black" panose="020B0A04020102020204" pitchFamily="34" charset="0"/>
                <a:cs typeface="Times New Roman" panose="02020603050405020304" pitchFamily="18" charset="0"/>
              </a:rPr>
              <a:t>Figure 6: Hardware Implementation </a:t>
            </a:r>
            <a:r>
              <a:rPr lang="en-IN" sz="1400" dirty="0">
                <a:latin typeface="Arial Black" panose="020B0A04020102020204" pitchFamily="34" charset="0"/>
                <a:cs typeface="Times New Roman" panose="02020603050405020304" pitchFamily="18" charset="0"/>
              </a:rPr>
              <a:t>of the Smart Vision Based Attendance System</a:t>
            </a:r>
            <a:endParaRPr lang="en-US" sz="1400" dirty="0">
              <a:latin typeface="Arial Black" panose="020B0A04020102020204" pitchFamily="34" charset="0"/>
              <a:cs typeface="Times New Roman" panose="02020603050405020304" pitchFamily="18" charset="0"/>
            </a:endParaRPr>
          </a:p>
        </p:txBody>
      </p:sp>
      <p:sp>
        <p:nvSpPr>
          <p:cNvPr id="8" name="Title 1">
            <a:extLst>
              <a:ext uri="{FF2B5EF4-FFF2-40B4-BE49-F238E27FC236}">
                <a16:creationId xmlns:a16="http://schemas.microsoft.com/office/drawing/2014/main" id="{CF7F4FDD-F88D-476E-98BB-7134732CFB66}"/>
              </a:ext>
            </a:extLst>
          </p:cNvPr>
          <p:cNvSpPr txBox="1">
            <a:spLocks/>
          </p:cNvSpPr>
          <p:nvPr/>
        </p:nvSpPr>
        <p:spPr>
          <a:xfrm>
            <a:off x="11704982" y="6488747"/>
            <a:ext cx="410817" cy="369253"/>
          </a:xfrm>
          <a:prstGeom prst="rect">
            <a:avLst/>
          </a:prstGeom>
        </p:spPr>
        <p:txBody>
          <a:bodyPr wrap="square" anchor="b">
            <a:normAutofit fontScale="85000" lnSpcReduction="10000"/>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11</a:t>
            </a:r>
          </a:p>
        </p:txBody>
      </p:sp>
    </p:spTree>
    <p:extLst>
      <p:ext uri="{BB962C8B-B14F-4D97-AF65-F5344CB8AC3E}">
        <p14:creationId xmlns:p14="http://schemas.microsoft.com/office/powerpoint/2010/main" val="992032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56C41-C32B-37C8-100C-58E66C84D8E3}"/>
              </a:ext>
            </a:extLst>
          </p:cNvPr>
          <p:cNvSpPr txBox="1">
            <a:spLocks/>
          </p:cNvSpPr>
          <p:nvPr/>
        </p:nvSpPr>
        <p:spPr>
          <a:xfrm>
            <a:off x="897835" y="163682"/>
            <a:ext cx="10396330" cy="502241"/>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sz="3000" b="1" dirty="0"/>
              <a:t>                         </a:t>
            </a:r>
            <a:r>
              <a:rPr lang="en-IN" sz="3000" b="1" dirty="0">
                <a:latin typeface="Times New Roman" panose="02020603050405020304" pitchFamily="18" charset="0"/>
                <a:cs typeface="Times New Roman" panose="02020603050405020304" pitchFamily="18" charset="0"/>
              </a:rPr>
              <a:t>SOFTWARE INTERFACING</a:t>
            </a:r>
          </a:p>
          <a:p>
            <a:r>
              <a:rPr lang="en-IN" sz="3000" b="1" dirty="0">
                <a:latin typeface="Times New Roman" panose="02020603050405020304" pitchFamily="18" charset="0"/>
                <a:cs typeface="Times New Roman" panose="02020603050405020304" pitchFamily="18" charset="0"/>
              </a:rPr>
              <a:t>  </a:t>
            </a:r>
          </a:p>
          <a:p>
            <a:endParaRPr lang="en-IN" sz="3000" b="1"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B076C6FC-4CD4-B176-67AA-8BDD45B56186}"/>
              </a:ext>
            </a:extLst>
          </p:cNvPr>
          <p:cNvSpPr txBox="1">
            <a:spLocks/>
          </p:cNvSpPr>
          <p:nvPr/>
        </p:nvSpPr>
        <p:spPr>
          <a:xfrm>
            <a:off x="221975" y="6124536"/>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pic>
        <p:nvPicPr>
          <p:cNvPr id="5" name="Picture 4">
            <a:extLst>
              <a:ext uri="{FF2B5EF4-FFF2-40B4-BE49-F238E27FC236}">
                <a16:creationId xmlns:a16="http://schemas.microsoft.com/office/drawing/2014/main" id="{7B626189-5246-145E-B6C7-EBD956D329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1253" y="949807"/>
            <a:ext cx="6001579" cy="4501185"/>
          </a:xfrm>
          <a:prstGeom prst="rect">
            <a:avLst/>
          </a:prstGeom>
        </p:spPr>
      </p:pic>
      <p:sp>
        <p:nvSpPr>
          <p:cNvPr id="4" name="Title 1">
            <a:extLst>
              <a:ext uri="{FF2B5EF4-FFF2-40B4-BE49-F238E27FC236}">
                <a16:creationId xmlns:a16="http://schemas.microsoft.com/office/drawing/2014/main" id="{FC45ABA0-3189-C29E-CA26-33CB0F51C28D}"/>
              </a:ext>
            </a:extLst>
          </p:cNvPr>
          <p:cNvSpPr txBox="1">
            <a:spLocks/>
          </p:cNvSpPr>
          <p:nvPr/>
        </p:nvSpPr>
        <p:spPr>
          <a:xfrm>
            <a:off x="3224420" y="5450992"/>
            <a:ext cx="5675243" cy="389661"/>
          </a:xfrm>
          <a:prstGeom prst="rect">
            <a:avLst/>
          </a:prstGeom>
        </p:spPr>
        <p:txBody>
          <a:bodyPr wrap="square" anchor="b">
            <a:no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1400" dirty="0">
                <a:latin typeface="Arial Black" panose="020B0A04020102020204" pitchFamily="34" charset="0"/>
                <a:cs typeface="Times New Roman" panose="02020603050405020304" pitchFamily="18" charset="0"/>
              </a:rPr>
              <a:t>Figure 7: Front End Interface </a:t>
            </a:r>
            <a:r>
              <a:rPr lang="en-IN" sz="1400" dirty="0">
                <a:latin typeface="Arial Black" panose="020B0A04020102020204" pitchFamily="34" charset="0"/>
                <a:cs typeface="Times New Roman" panose="02020603050405020304" pitchFamily="18" charset="0"/>
              </a:rPr>
              <a:t>of the Attendance System  </a:t>
            </a:r>
            <a:endParaRPr lang="en-US" sz="1400" dirty="0">
              <a:latin typeface="Arial Black" panose="020B0A04020102020204" pitchFamily="34" charset="0"/>
              <a:cs typeface="Times New Roman" panose="02020603050405020304" pitchFamily="18" charset="0"/>
            </a:endParaRPr>
          </a:p>
        </p:txBody>
      </p:sp>
      <p:sp>
        <p:nvSpPr>
          <p:cNvPr id="6" name="Title 1">
            <a:extLst>
              <a:ext uri="{FF2B5EF4-FFF2-40B4-BE49-F238E27FC236}">
                <a16:creationId xmlns:a16="http://schemas.microsoft.com/office/drawing/2014/main" id="{F915E3CC-EBCE-3F5C-EC50-3B4F058DF2C6}"/>
              </a:ext>
            </a:extLst>
          </p:cNvPr>
          <p:cNvSpPr txBox="1">
            <a:spLocks/>
          </p:cNvSpPr>
          <p:nvPr/>
        </p:nvSpPr>
        <p:spPr>
          <a:xfrm>
            <a:off x="11704982" y="6488747"/>
            <a:ext cx="410817" cy="369253"/>
          </a:xfrm>
          <a:prstGeom prst="rect">
            <a:avLst/>
          </a:prstGeom>
        </p:spPr>
        <p:txBody>
          <a:bodyPr wrap="square" anchor="b">
            <a:normAutofit fontScale="85000" lnSpcReduction="10000"/>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12</a:t>
            </a:r>
          </a:p>
        </p:txBody>
      </p:sp>
    </p:spTree>
    <p:extLst>
      <p:ext uri="{BB962C8B-B14F-4D97-AF65-F5344CB8AC3E}">
        <p14:creationId xmlns:p14="http://schemas.microsoft.com/office/powerpoint/2010/main" val="2649224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B0C31-40E7-7333-4787-0A684CABDEB4}"/>
              </a:ext>
            </a:extLst>
          </p:cNvPr>
          <p:cNvSpPr txBox="1">
            <a:spLocks/>
          </p:cNvSpPr>
          <p:nvPr/>
        </p:nvSpPr>
        <p:spPr>
          <a:xfrm>
            <a:off x="897835" y="163682"/>
            <a:ext cx="10396330" cy="502241"/>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sz="3000" b="1" dirty="0"/>
              <a:t>                                       </a:t>
            </a:r>
            <a:r>
              <a:rPr lang="en-IN" sz="3000" b="1" dirty="0">
                <a:latin typeface="Times New Roman" panose="02020603050405020304" pitchFamily="18" charset="0"/>
                <a:cs typeface="Times New Roman" panose="02020603050405020304" pitchFamily="18" charset="0"/>
              </a:rPr>
              <a:t>RESULTS</a:t>
            </a:r>
          </a:p>
          <a:p>
            <a:r>
              <a:rPr lang="en-IN" sz="3000" b="1" dirty="0">
                <a:latin typeface="Times New Roman" panose="02020603050405020304" pitchFamily="18" charset="0"/>
                <a:cs typeface="Times New Roman" panose="02020603050405020304" pitchFamily="18" charset="0"/>
              </a:rPr>
              <a:t>  </a:t>
            </a:r>
          </a:p>
          <a:p>
            <a:endParaRPr lang="en-IN" sz="3000" b="1"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AF84C94E-96D0-0D07-BDE0-9E6365F1A628}"/>
              </a:ext>
            </a:extLst>
          </p:cNvPr>
          <p:cNvSpPr txBox="1">
            <a:spLocks/>
          </p:cNvSpPr>
          <p:nvPr/>
        </p:nvSpPr>
        <p:spPr>
          <a:xfrm>
            <a:off x="221975" y="6124536"/>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pic>
        <p:nvPicPr>
          <p:cNvPr id="5" name="Picture 4">
            <a:extLst>
              <a:ext uri="{FF2B5EF4-FFF2-40B4-BE49-F238E27FC236}">
                <a16:creationId xmlns:a16="http://schemas.microsoft.com/office/drawing/2014/main" id="{690DC841-EA02-F184-A397-E77953473A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744" y="1330602"/>
            <a:ext cx="4401375" cy="3301031"/>
          </a:xfrm>
          <a:prstGeom prst="rect">
            <a:avLst/>
          </a:prstGeom>
        </p:spPr>
      </p:pic>
      <p:pic>
        <p:nvPicPr>
          <p:cNvPr id="7" name="Picture 6">
            <a:extLst>
              <a:ext uri="{FF2B5EF4-FFF2-40B4-BE49-F238E27FC236}">
                <a16:creationId xmlns:a16="http://schemas.microsoft.com/office/drawing/2014/main" id="{11F9C7E6-F068-BE8B-038B-7385A5C170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2791" y="1330602"/>
            <a:ext cx="4401374" cy="3301030"/>
          </a:xfrm>
          <a:prstGeom prst="rect">
            <a:avLst/>
          </a:prstGeom>
        </p:spPr>
      </p:pic>
      <p:sp>
        <p:nvSpPr>
          <p:cNvPr id="4" name="Title 1">
            <a:extLst>
              <a:ext uri="{FF2B5EF4-FFF2-40B4-BE49-F238E27FC236}">
                <a16:creationId xmlns:a16="http://schemas.microsoft.com/office/drawing/2014/main" id="{10B0C210-92EC-5476-D32C-96EDD07040BC}"/>
              </a:ext>
            </a:extLst>
          </p:cNvPr>
          <p:cNvSpPr txBox="1">
            <a:spLocks/>
          </p:cNvSpPr>
          <p:nvPr/>
        </p:nvSpPr>
        <p:spPr>
          <a:xfrm>
            <a:off x="1144658" y="4721919"/>
            <a:ext cx="3571460" cy="369895"/>
          </a:xfrm>
          <a:prstGeom prst="rect">
            <a:avLst/>
          </a:prstGeom>
        </p:spPr>
        <p:txBody>
          <a:bodyPr wrap="square" anchor="b">
            <a:no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1400" dirty="0">
                <a:latin typeface="Arial Black" panose="020B0A04020102020204" pitchFamily="34" charset="0"/>
                <a:cs typeface="Times New Roman" panose="02020603050405020304" pitchFamily="18" charset="0"/>
              </a:rPr>
              <a:t>Registered &amp; Recognized User 1</a:t>
            </a:r>
          </a:p>
        </p:txBody>
      </p:sp>
      <p:sp>
        <p:nvSpPr>
          <p:cNvPr id="8" name="Title 1">
            <a:extLst>
              <a:ext uri="{FF2B5EF4-FFF2-40B4-BE49-F238E27FC236}">
                <a16:creationId xmlns:a16="http://schemas.microsoft.com/office/drawing/2014/main" id="{40627A18-5A86-065D-BE80-EBC06FED4094}"/>
              </a:ext>
            </a:extLst>
          </p:cNvPr>
          <p:cNvSpPr txBox="1">
            <a:spLocks/>
          </p:cNvSpPr>
          <p:nvPr/>
        </p:nvSpPr>
        <p:spPr>
          <a:xfrm>
            <a:off x="7475882" y="4662281"/>
            <a:ext cx="3571460" cy="369895"/>
          </a:xfrm>
          <a:prstGeom prst="rect">
            <a:avLst/>
          </a:prstGeom>
        </p:spPr>
        <p:txBody>
          <a:bodyPr wrap="square" anchor="b">
            <a:no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1400" dirty="0">
                <a:latin typeface="Arial Black" panose="020B0A04020102020204" pitchFamily="34" charset="0"/>
                <a:cs typeface="Times New Roman" panose="02020603050405020304" pitchFamily="18" charset="0"/>
              </a:rPr>
              <a:t>Registered &amp; Recognized User 2</a:t>
            </a:r>
          </a:p>
        </p:txBody>
      </p:sp>
      <p:sp>
        <p:nvSpPr>
          <p:cNvPr id="6" name="Title 1">
            <a:extLst>
              <a:ext uri="{FF2B5EF4-FFF2-40B4-BE49-F238E27FC236}">
                <a16:creationId xmlns:a16="http://schemas.microsoft.com/office/drawing/2014/main" id="{86247D95-36FC-3404-23E7-8449ECB9536F}"/>
              </a:ext>
            </a:extLst>
          </p:cNvPr>
          <p:cNvSpPr txBox="1">
            <a:spLocks/>
          </p:cNvSpPr>
          <p:nvPr/>
        </p:nvSpPr>
        <p:spPr>
          <a:xfrm>
            <a:off x="11704982" y="6488747"/>
            <a:ext cx="410817" cy="369253"/>
          </a:xfrm>
          <a:prstGeom prst="rect">
            <a:avLst/>
          </a:prstGeom>
        </p:spPr>
        <p:txBody>
          <a:bodyPr wrap="square" anchor="b">
            <a:normAutofit fontScale="85000" lnSpcReduction="10000"/>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13</a:t>
            </a:r>
          </a:p>
        </p:txBody>
      </p:sp>
    </p:spTree>
    <p:extLst>
      <p:ext uri="{BB962C8B-B14F-4D97-AF65-F5344CB8AC3E}">
        <p14:creationId xmlns:p14="http://schemas.microsoft.com/office/powerpoint/2010/main" val="20668766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EB4807-400E-235D-3046-F69D240646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1" y="1202635"/>
            <a:ext cx="4628322" cy="3435148"/>
          </a:xfrm>
          <a:prstGeom prst="rect">
            <a:avLst/>
          </a:prstGeom>
        </p:spPr>
      </p:pic>
      <p:sp>
        <p:nvSpPr>
          <p:cNvPr id="6" name="Title 1">
            <a:extLst>
              <a:ext uri="{FF2B5EF4-FFF2-40B4-BE49-F238E27FC236}">
                <a16:creationId xmlns:a16="http://schemas.microsoft.com/office/drawing/2014/main" id="{FA7F3889-FB21-AA66-208B-2CB78105AF88}"/>
              </a:ext>
            </a:extLst>
          </p:cNvPr>
          <p:cNvSpPr txBox="1">
            <a:spLocks/>
          </p:cNvSpPr>
          <p:nvPr/>
        </p:nvSpPr>
        <p:spPr>
          <a:xfrm>
            <a:off x="1721128" y="4761676"/>
            <a:ext cx="3571460" cy="369895"/>
          </a:xfrm>
          <a:prstGeom prst="rect">
            <a:avLst/>
          </a:prstGeom>
        </p:spPr>
        <p:txBody>
          <a:bodyPr wrap="square" anchor="b">
            <a:no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1400" dirty="0">
                <a:latin typeface="Arial Black" panose="020B0A04020102020204" pitchFamily="34" charset="0"/>
                <a:cs typeface="Times New Roman" panose="02020603050405020304" pitchFamily="18" charset="0"/>
              </a:rPr>
              <a:t>Registered &amp; Recognized User 3</a:t>
            </a:r>
          </a:p>
        </p:txBody>
      </p:sp>
      <p:sp>
        <p:nvSpPr>
          <p:cNvPr id="7" name="Title 1">
            <a:extLst>
              <a:ext uri="{FF2B5EF4-FFF2-40B4-BE49-F238E27FC236}">
                <a16:creationId xmlns:a16="http://schemas.microsoft.com/office/drawing/2014/main" id="{A291FBA6-A74C-A420-CAC0-E744D89E3AC6}"/>
              </a:ext>
            </a:extLst>
          </p:cNvPr>
          <p:cNvSpPr txBox="1">
            <a:spLocks/>
          </p:cNvSpPr>
          <p:nvPr/>
        </p:nvSpPr>
        <p:spPr>
          <a:xfrm>
            <a:off x="7615032" y="4752569"/>
            <a:ext cx="3571460" cy="369895"/>
          </a:xfrm>
          <a:prstGeom prst="rect">
            <a:avLst/>
          </a:prstGeom>
        </p:spPr>
        <p:txBody>
          <a:bodyPr wrap="square" anchor="b">
            <a:no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1400" dirty="0">
                <a:latin typeface="Arial Black" panose="020B0A04020102020204" pitchFamily="34" charset="0"/>
                <a:cs typeface="Times New Roman" panose="02020603050405020304" pitchFamily="18" charset="0"/>
              </a:rPr>
              <a:t>Registered &amp; Recognized User 4</a:t>
            </a:r>
          </a:p>
        </p:txBody>
      </p:sp>
      <p:sp>
        <p:nvSpPr>
          <p:cNvPr id="8" name="Title 1">
            <a:extLst>
              <a:ext uri="{FF2B5EF4-FFF2-40B4-BE49-F238E27FC236}">
                <a16:creationId xmlns:a16="http://schemas.microsoft.com/office/drawing/2014/main" id="{341EFBF8-5EB2-B32C-BD63-BC5343B4C0C6}"/>
              </a:ext>
            </a:extLst>
          </p:cNvPr>
          <p:cNvSpPr txBox="1">
            <a:spLocks/>
          </p:cNvSpPr>
          <p:nvPr/>
        </p:nvSpPr>
        <p:spPr>
          <a:xfrm>
            <a:off x="897835" y="163682"/>
            <a:ext cx="10396330" cy="502241"/>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sz="3000" b="1" dirty="0"/>
              <a:t>                                     </a:t>
            </a:r>
            <a:r>
              <a:rPr lang="en-IN" sz="3000" b="1" dirty="0">
                <a:latin typeface="Times New Roman" panose="02020603050405020304" pitchFamily="18" charset="0"/>
                <a:cs typeface="Times New Roman" panose="02020603050405020304" pitchFamily="18" charset="0"/>
              </a:rPr>
              <a:t>RESULTS</a:t>
            </a:r>
          </a:p>
          <a:p>
            <a:r>
              <a:rPr lang="en-IN" sz="3000" b="1" dirty="0">
                <a:latin typeface="Times New Roman" panose="02020603050405020304" pitchFamily="18" charset="0"/>
                <a:cs typeface="Times New Roman" panose="02020603050405020304" pitchFamily="18" charset="0"/>
              </a:rPr>
              <a:t>  </a:t>
            </a:r>
          </a:p>
          <a:p>
            <a:endParaRPr lang="en-IN" sz="3000" b="1" dirty="0">
              <a:latin typeface="Times New Roman" panose="02020603050405020304" pitchFamily="18" charset="0"/>
              <a:cs typeface="Times New Roman" panose="02020603050405020304" pitchFamily="18" charset="0"/>
            </a:endParaRPr>
          </a:p>
        </p:txBody>
      </p:sp>
      <p:sp>
        <p:nvSpPr>
          <p:cNvPr id="3" name="AutoShape 2">
            <a:extLst>
              <a:ext uri="{FF2B5EF4-FFF2-40B4-BE49-F238E27FC236}">
                <a16:creationId xmlns:a16="http://schemas.microsoft.com/office/drawing/2014/main" id="{3EA73B04-A06E-C10F-EC16-5ECE9B21AEC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4">
            <a:extLst>
              <a:ext uri="{FF2B5EF4-FFF2-40B4-BE49-F238E27FC236}">
                <a16:creationId xmlns:a16="http://schemas.microsoft.com/office/drawing/2014/main" id="{E54BF63B-8CA9-27A2-EB3C-427CCA172F1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B6589F3E-90E4-ED14-1208-835F9B05AD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2567" y="1272210"/>
            <a:ext cx="4487433" cy="3365574"/>
          </a:xfrm>
          <a:prstGeom prst="rect">
            <a:avLst/>
          </a:prstGeom>
        </p:spPr>
      </p:pic>
      <p:sp>
        <p:nvSpPr>
          <p:cNvPr id="2" name="Title 1">
            <a:extLst>
              <a:ext uri="{FF2B5EF4-FFF2-40B4-BE49-F238E27FC236}">
                <a16:creationId xmlns:a16="http://schemas.microsoft.com/office/drawing/2014/main" id="{B84A9580-E339-C856-94FC-3F7CEE2E16BC}"/>
              </a:ext>
            </a:extLst>
          </p:cNvPr>
          <p:cNvSpPr txBox="1">
            <a:spLocks/>
          </p:cNvSpPr>
          <p:nvPr/>
        </p:nvSpPr>
        <p:spPr>
          <a:xfrm>
            <a:off x="11704982" y="6488747"/>
            <a:ext cx="410817" cy="369253"/>
          </a:xfrm>
          <a:prstGeom prst="rect">
            <a:avLst/>
          </a:prstGeom>
        </p:spPr>
        <p:txBody>
          <a:bodyPr wrap="square" anchor="b">
            <a:normAutofit fontScale="85000" lnSpcReduction="10000"/>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14</a:t>
            </a:r>
          </a:p>
        </p:txBody>
      </p:sp>
      <p:sp>
        <p:nvSpPr>
          <p:cNvPr id="9" name="Title 1">
            <a:extLst>
              <a:ext uri="{FF2B5EF4-FFF2-40B4-BE49-F238E27FC236}">
                <a16:creationId xmlns:a16="http://schemas.microsoft.com/office/drawing/2014/main" id="{094E4390-5F5F-9945-D622-DE624C5493A3}"/>
              </a:ext>
            </a:extLst>
          </p:cNvPr>
          <p:cNvSpPr txBox="1">
            <a:spLocks/>
          </p:cNvSpPr>
          <p:nvPr/>
        </p:nvSpPr>
        <p:spPr>
          <a:xfrm>
            <a:off x="221975" y="6124536"/>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spTree>
    <p:extLst>
      <p:ext uri="{BB962C8B-B14F-4D97-AF65-F5344CB8AC3E}">
        <p14:creationId xmlns:p14="http://schemas.microsoft.com/office/powerpoint/2010/main" val="3406697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945BE-0B04-28B1-7786-C796F9143FCA}"/>
              </a:ext>
            </a:extLst>
          </p:cNvPr>
          <p:cNvSpPr txBox="1">
            <a:spLocks/>
          </p:cNvSpPr>
          <p:nvPr/>
        </p:nvSpPr>
        <p:spPr>
          <a:xfrm>
            <a:off x="897835" y="-24965"/>
            <a:ext cx="10396330" cy="502241"/>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sz="3000" b="1" dirty="0"/>
              <a:t>                                     </a:t>
            </a:r>
            <a:r>
              <a:rPr lang="en-IN" sz="3000" b="1" dirty="0">
                <a:latin typeface="Times New Roman" panose="02020603050405020304" pitchFamily="18" charset="0"/>
                <a:cs typeface="Times New Roman" panose="02020603050405020304" pitchFamily="18" charset="0"/>
              </a:rPr>
              <a:t>RESULTS</a:t>
            </a:r>
          </a:p>
          <a:p>
            <a:r>
              <a:rPr lang="en-IN" sz="3000" b="1" dirty="0">
                <a:latin typeface="Times New Roman" panose="02020603050405020304" pitchFamily="18" charset="0"/>
                <a:cs typeface="Times New Roman" panose="02020603050405020304" pitchFamily="18" charset="0"/>
              </a:rPr>
              <a:t>  </a:t>
            </a:r>
          </a:p>
          <a:p>
            <a:endParaRPr lang="en-IN" sz="3000" b="1"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33C6A6EC-6691-77B0-5296-121E06EC495A}"/>
              </a:ext>
            </a:extLst>
          </p:cNvPr>
          <p:cNvSpPr txBox="1">
            <a:spLocks/>
          </p:cNvSpPr>
          <p:nvPr/>
        </p:nvSpPr>
        <p:spPr>
          <a:xfrm>
            <a:off x="334618" y="2594113"/>
            <a:ext cx="5236264" cy="989257"/>
          </a:xfrm>
          <a:prstGeom prst="rect">
            <a:avLst/>
          </a:prstGeom>
        </p:spPr>
        <p:txBody>
          <a:bodyPr wrap="square" anchor="b">
            <a:no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1400" dirty="0">
                <a:latin typeface="Arial Black" panose="020B0A04020102020204" pitchFamily="34" charset="0"/>
                <a:cs typeface="Times New Roman" panose="02020603050405020304" pitchFamily="18" charset="0"/>
              </a:rPr>
              <a:t>Fig. Real-Time Recognition of Multiple Registered Users in a Single Frame</a:t>
            </a:r>
          </a:p>
          <a:p>
            <a:endParaRPr lang="en-US" sz="1400" dirty="0">
              <a:latin typeface="Arial Black" panose="020B0A04020102020204" pitchFamily="34" charset="0"/>
              <a:cs typeface="Times New Roman" panose="02020603050405020304" pitchFamily="18" charset="0"/>
            </a:endParaRPr>
          </a:p>
        </p:txBody>
      </p:sp>
      <p:sp>
        <p:nvSpPr>
          <p:cNvPr id="4" name="Title 1">
            <a:extLst>
              <a:ext uri="{FF2B5EF4-FFF2-40B4-BE49-F238E27FC236}">
                <a16:creationId xmlns:a16="http://schemas.microsoft.com/office/drawing/2014/main" id="{9D5CF6A7-6D80-E39A-172A-F9FE8099DA0A}"/>
              </a:ext>
            </a:extLst>
          </p:cNvPr>
          <p:cNvSpPr txBox="1">
            <a:spLocks/>
          </p:cNvSpPr>
          <p:nvPr/>
        </p:nvSpPr>
        <p:spPr>
          <a:xfrm>
            <a:off x="7424529" y="2499376"/>
            <a:ext cx="4432853" cy="854765"/>
          </a:xfrm>
          <a:prstGeom prst="rect">
            <a:avLst/>
          </a:prstGeom>
        </p:spPr>
        <p:txBody>
          <a:bodyPr wrap="square" anchor="b">
            <a:no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1400" dirty="0">
                <a:latin typeface="Arial Black" panose="020B0A04020102020204" pitchFamily="34" charset="0"/>
                <a:cs typeface="Times New Roman" panose="02020603050405020304" pitchFamily="18" charset="0"/>
              </a:rPr>
              <a:t>Fig. Automated Attendance Log Stored in Excel Format</a:t>
            </a:r>
          </a:p>
          <a:p>
            <a:endParaRPr lang="en-US" sz="1400" dirty="0">
              <a:latin typeface="Arial Black" panose="020B0A04020102020204" pitchFamily="34" charset="0"/>
              <a:cs typeface="Times New Roman" panose="02020603050405020304" pitchFamily="18" charset="0"/>
            </a:endParaRPr>
          </a:p>
        </p:txBody>
      </p:sp>
      <p:sp>
        <p:nvSpPr>
          <p:cNvPr id="5" name="Title 1">
            <a:extLst>
              <a:ext uri="{FF2B5EF4-FFF2-40B4-BE49-F238E27FC236}">
                <a16:creationId xmlns:a16="http://schemas.microsoft.com/office/drawing/2014/main" id="{541E76FD-E77A-3A8F-8649-751A7225F46D}"/>
              </a:ext>
            </a:extLst>
          </p:cNvPr>
          <p:cNvSpPr txBox="1">
            <a:spLocks/>
          </p:cNvSpPr>
          <p:nvPr/>
        </p:nvSpPr>
        <p:spPr>
          <a:xfrm>
            <a:off x="7424529" y="5854502"/>
            <a:ext cx="4432853" cy="601987"/>
          </a:xfrm>
          <a:prstGeom prst="rect">
            <a:avLst/>
          </a:prstGeom>
        </p:spPr>
        <p:txBody>
          <a:bodyPr wrap="square" anchor="b">
            <a:no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1400" dirty="0">
                <a:latin typeface="Arial Black" panose="020B0A04020102020204" pitchFamily="34" charset="0"/>
                <a:cs typeface="Times New Roman" panose="02020603050405020304" pitchFamily="18" charset="0"/>
              </a:rPr>
              <a:t>Fig. Real-Time SMS Notification Sent to Parents</a:t>
            </a:r>
          </a:p>
          <a:p>
            <a:endParaRPr lang="en-US" sz="1400" dirty="0">
              <a:latin typeface="Arial Black" panose="020B0A04020102020204"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E70BF6FD-BF35-5BDB-B4B9-B89E67E61D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4529" y="765826"/>
            <a:ext cx="4229100" cy="1733550"/>
          </a:xfrm>
          <a:prstGeom prst="rect">
            <a:avLst/>
          </a:prstGeom>
        </p:spPr>
      </p:pic>
      <p:pic>
        <p:nvPicPr>
          <p:cNvPr id="8" name="Picture 7">
            <a:extLst>
              <a:ext uri="{FF2B5EF4-FFF2-40B4-BE49-F238E27FC236}">
                <a16:creationId xmlns:a16="http://schemas.microsoft.com/office/drawing/2014/main" id="{068F701B-DC57-A6E2-DBBA-4C9FECE1DAD9}"/>
              </a:ext>
            </a:extLst>
          </p:cNvPr>
          <p:cNvPicPr>
            <a:picLocks noChangeAspect="1"/>
          </p:cNvPicPr>
          <p:nvPr/>
        </p:nvPicPr>
        <p:blipFill>
          <a:blip r:embed="rId4"/>
          <a:stretch>
            <a:fillRect/>
          </a:stretch>
        </p:blipFill>
        <p:spPr>
          <a:xfrm>
            <a:off x="7896141" y="3429000"/>
            <a:ext cx="3474224" cy="2225760"/>
          </a:xfrm>
          <a:prstGeom prst="rect">
            <a:avLst/>
          </a:prstGeom>
        </p:spPr>
      </p:pic>
      <p:sp>
        <p:nvSpPr>
          <p:cNvPr id="9" name="Title 1">
            <a:extLst>
              <a:ext uri="{FF2B5EF4-FFF2-40B4-BE49-F238E27FC236}">
                <a16:creationId xmlns:a16="http://schemas.microsoft.com/office/drawing/2014/main" id="{D80BE948-0E1A-C80E-68BC-02D8F7046D96}"/>
              </a:ext>
            </a:extLst>
          </p:cNvPr>
          <p:cNvSpPr txBox="1">
            <a:spLocks/>
          </p:cNvSpPr>
          <p:nvPr/>
        </p:nvSpPr>
        <p:spPr>
          <a:xfrm>
            <a:off x="334618" y="5854502"/>
            <a:ext cx="4598508" cy="806409"/>
          </a:xfrm>
          <a:prstGeom prst="rect">
            <a:avLst/>
          </a:prstGeom>
        </p:spPr>
        <p:txBody>
          <a:bodyPr wrap="square" anchor="b">
            <a:no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1400" dirty="0">
                <a:latin typeface="Arial Black" panose="020B0A04020102020204" pitchFamily="34" charset="0"/>
                <a:cs typeface="Times New Roman" panose="02020603050405020304" pitchFamily="18" charset="0"/>
              </a:rPr>
              <a:t>Fig. Real Time User Recognition and Head Count</a:t>
            </a:r>
          </a:p>
          <a:p>
            <a:endParaRPr lang="en-US" sz="1400" dirty="0">
              <a:latin typeface="Arial Black" panose="020B0A0402010202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ED5C4C19-67EC-1BEB-83BB-C02A2E81C71C}"/>
              </a:ext>
            </a:extLst>
          </p:cNvPr>
          <p:cNvPicPr>
            <a:picLocks noChangeAspect="1"/>
          </p:cNvPicPr>
          <p:nvPr/>
        </p:nvPicPr>
        <p:blipFill>
          <a:blip r:embed="rId5">
            <a:extLst>
              <a:ext uri="{28A0092B-C50C-407E-A947-70E740481C1C}">
                <a14:useLocalDpi xmlns:a14="http://schemas.microsoft.com/office/drawing/2010/main" val="0"/>
              </a:ext>
            </a:extLst>
          </a:blip>
          <a:srcRect l="30312" t="19565" r="12424" b="16521"/>
          <a:stretch>
            <a:fillRect/>
          </a:stretch>
        </p:blipFill>
        <p:spPr>
          <a:xfrm>
            <a:off x="1073426" y="502752"/>
            <a:ext cx="2847918" cy="2383927"/>
          </a:xfrm>
          <a:prstGeom prst="rect">
            <a:avLst/>
          </a:prstGeom>
        </p:spPr>
      </p:pic>
      <p:sp>
        <p:nvSpPr>
          <p:cNvPr id="6" name="Title 1">
            <a:extLst>
              <a:ext uri="{FF2B5EF4-FFF2-40B4-BE49-F238E27FC236}">
                <a16:creationId xmlns:a16="http://schemas.microsoft.com/office/drawing/2014/main" id="{02E2A7C8-2056-7C21-F5D6-A9E0B5321A3C}"/>
              </a:ext>
            </a:extLst>
          </p:cNvPr>
          <p:cNvSpPr txBox="1">
            <a:spLocks/>
          </p:cNvSpPr>
          <p:nvPr/>
        </p:nvSpPr>
        <p:spPr>
          <a:xfrm>
            <a:off x="11704982" y="6488747"/>
            <a:ext cx="410817" cy="369253"/>
          </a:xfrm>
          <a:prstGeom prst="rect">
            <a:avLst/>
          </a:prstGeom>
        </p:spPr>
        <p:txBody>
          <a:bodyPr wrap="square" anchor="b">
            <a:normAutofit fontScale="85000" lnSpcReduction="10000"/>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15</a:t>
            </a:r>
          </a:p>
        </p:txBody>
      </p:sp>
      <p:sp>
        <p:nvSpPr>
          <p:cNvPr id="11" name="Title 1">
            <a:extLst>
              <a:ext uri="{FF2B5EF4-FFF2-40B4-BE49-F238E27FC236}">
                <a16:creationId xmlns:a16="http://schemas.microsoft.com/office/drawing/2014/main" id="{B8A48B4F-DCB0-23BB-08E1-EB1AD6810DBC}"/>
              </a:ext>
            </a:extLst>
          </p:cNvPr>
          <p:cNvSpPr txBox="1">
            <a:spLocks/>
          </p:cNvSpPr>
          <p:nvPr/>
        </p:nvSpPr>
        <p:spPr>
          <a:xfrm>
            <a:off x="113472" y="6257706"/>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pic>
        <p:nvPicPr>
          <p:cNvPr id="15" name="Picture 14">
            <a:extLst>
              <a:ext uri="{FF2B5EF4-FFF2-40B4-BE49-F238E27FC236}">
                <a16:creationId xmlns:a16="http://schemas.microsoft.com/office/drawing/2014/main" id="{8BF65584-D176-1205-223D-31134C010941}"/>
              </a:ext>
            </a:extLst>
          </p:cNvPr>
          <p:cNvPicPr>
            <a:picLocks noChangeAspect="1"/>
          </p:cNvPicPr>
          <p:nvPr/>
        </p:nvPicPr>
        <p:blipFill>
          <a:blip r:embed="rId6">
            <a:extLst>
              <a:ext uri="{28A0092B-C50C-407E-A947-70E740481C1C}">
                <a14:useLocalDpi xmlns:a14="http://schemas.microsoft.com/office/drawing/2010/main" val="0"/>
              </a:ext>
            </a:extLst>
          </a:blip>
          <a:srcRect l="31691" t="9855" r="25717" b="32609"/>
          <a:stretch>
            <a:fillRect/>
          </a:stretch>
        </p:blipFill>
        <p:spPr>
          <a:xfrm rot="16200000">
            <a:off x="1538499" y="2705824"/>
            <a:ext cx="2190745" cy="3945836"/>
          </a:xfrm>
          <a:prstGeom prst="rect">
            <a:avLst/>
          </a:prstGeom>
        </p:spPr>
      </p:pic>
    </p:spTree>
    <p:extLst>
      <p:ext uri="{BB962C8B-B14F-4D97-AF65-F5344CB8AC3E}">
        <p14:creationId xmlns:p14="http://schemas.microsoft.com/office/powerpoint/2010/main" val="3942331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7FF18-CF60-04E6-55D3-2DFA3E5C1656}"/>
              </a:ext>
            </a:extLst>
          </p:cNvPr>
          <p:cNvSpPr txBox="1">
            <a:spLocks/>
          </p:cNvSpPr>
          <p:nvPr/>
        </p:nvSpPr>
        <p:spPr>
          <a:xfrm>
            <a:off x="1033670" y="166343"/>
            <a:ext cx="10396330" cy="648666"/>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sz="2800" b="1" dirty="0">
                <a:latin typeface="Times New Roman" panose="02020603050405020304" pitchFamily="18" charset="0"/>
                <a:cs typeface="Times New Roman" panose="02020603050405020304" pitchFamily="18" charset="0"/>
              </a:rPr>
              <a:t>COMPARSION OF EXISTING AND PROPOSED SYSTEM</a:t>
            </a:r>
          </a:p>
        </p:txBody>
      </p:sp>
      <p:graphicFrame>
        <p:nvGraphicFramePr>
          <p:cNvPr id="4" name="Table 3">
            <a:extLst>
              <a:ext uri="{FF2B5EF4-FFF2-40B4-BE49-F238E27FC236}">
                <a16:creationId xmlns:a16="http://schemas.microsoft.com/office/drawing/2014/main" id="{596BD6C7-E221-711B-3C7A-C9785F3913F7}"/>
              </a:ext>
            </a:extLst>
          </p:cNvPr>
          <p:cNvGraphicFramePr>
            <a:graphicFrameLocks noGrp="1"/>
          </p:cNvGraphicFramePr>
          <p:nvPr>
            <p:extLst>
              <p:ext uri="{D42A27DB-BD31-4B8C-83A1-F6EECF244321}">
                <p14:modId xmlns:p14="http://schemas.microsoft.com/office/powerpoint/2010/main" val="2036927238"/>
              </p:ext>
            </p:extLst>
          </p:nvPr>
        </p:nvGraphicFramePr>
        <p:xfrm>
          <a:off x="405020" y="974183"/>
          <a:ext cx="11653630" cy="4909634"/>
        </p:xfrm>
        <a:graphic>
          <a:graphicData uri="http://schemas.openxmlformats.org/drawingml/2006/table">
            <a:tbl>
              <a:tblPr>
                <a:tableStyleId>{616DA210-FB5B-4158-B5E0-FEB733F419BA}</a:tableStyleId>
              </a:tblPr>
              <a:tblGrid>
                <a:gridCol w="674039">
                  <a:extLst>
                    <a:ext uri="{9D8B030D-6E8A-4147-A177-3AD203B41FA5}">
                      <a16:colId xmlns:a16="http://schemas.microsoft.com/office/drawing/2014/main" val="965950500"/>
                    </a:ext>
                  </a:extLst>
                </a:gridCol>
                <a:gridCol w="4818034">
                  <a:extLst>
                    <a:ext uri="{9D8B030D-6E8A-4147-A177-3AD203B41FA5}">
                      <a16:colId xmlns:a16="http://schemas.microsoft.com/office/drawing/2014/main" val="667806439"/>
                    </a:ext>
                  </a:extLst>
                </a:gridCol>
                <a:gridCol w="6161557">
                  <a:extLst>
                    <a:ext uri="{9D8B030D-6E8A-4147-A177-3AD203B41FA5}">
                      <a16:colId xmlns:a16="http://schemas.microsoft.com/office/drawing/2014/main" val="1855916225"/>
                    </a:ext>
                  </a:extLst>
                </a:gridCol>
              </a:tblGrid>
              <a:tr h="412322">
                <a:tc>
                  <a:txBody>
                    <a:bodyPr/>
                    <a:lstStyle/>
                    <a:p>
                      <a:pPr>
                        <a:buNone/>
                      </a:pPr>
                      <a:r>
                        <a:rPr lang="en-IN" sz="1400" b="1" dirty="0" err="1">
                          <a:latin typeface="Times New Roman" panose="02020603050405020304" pitchFamily="18" charset="0"/>
                          <a:cs typeface="Times New Roman" panose="02020603050405020304" pitchFamily="18" charset="0"/>
                        </a:rPr>
                        <a:t>S.No</a:t>
                      </a:r>
                      <a:r>
                        <a:rPr lang="en-IN" sz="1400" b="1" dirty="0">
                          <a:latin typeface="Times New Roman" panose="02020603050405020304" pitchFamily="18" charset="0"/>
                          <a:cs typeface="Times New Roman" panose="02020603050405020304" pitchFamily="18" charset="0"/>
                        </a:rPr>
                        <a:t>.</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                    EXISTING SYSTEM</a:t>
                      </a:r>
                    </a:p>
                  </a:txBody>
                  <a:tcPr anchor="ctr"/>
                </a:tc>
                <a:tc>
                  <a:txBody>
                    <a:bodyPr/>
                    <a:lstStyle/>
                    <a:p>
                      <a:pPr>
                        <a:buNone/>
                      </a:pPr>
                      <a:r>
                        <a:rPr lang="en-IN" sz="1400" b="1" dirty="0">
                          <a:latin typeface="Times New Roman" panose="02020603050405020304" pitchFamily="18" charset="0"/>
                          <a:cs typeface="Times New Roman" panose="02020603050405020304" pitchFamily="18" charset="0"/>
                        </a:rPr>
                        <a:t>                                 PROPOSED SYSTEM</a:t>
                      </a:r>
                    </a:p>
                  </a:txBody>
                  <a:tcPr anchor="ctr"/>
                </a:tc>
                <a:extLst>
                  <a:ext uri="{0D108BD9-81ED-4DB2-BD59-A6C34878D82A}">
                    <a16:rowId xmlns:a16="http://schemas.microsoft.com/office/drawing/2014/main" val="3773399224"/>
                  </a:ext>
                </a:extLst>
              </a:tr>
              <a:tr h="853439">
                <a:tc>
                  <a:txBody>
                    <a:bodyPr/>
                    <a:lstStyle/>
                    <a:p>
                      <a:pPr>
                        <a:buNone/>
                      </a:pPr>
                      <a:r>
                        <a:rPr lang="en-IN" sz="1400" b="1">
                          <a:latin typeface="Times New Roman" panose="02020603050405020304" pitchFamily="18" charset="0"/>
                          <a:cs typeface="Times New Roman" panose="02020603050405020304" pitchFamily="18" charset="0"/>
                        </a:rPr>
                        <a:t>1.</a:t>
                      </a:r>
                    </a:p>
                  </a:txBody>
                  <a:tcPr anchor="ctr"/>
                </a:tc>
                <a:tc>
                  <a:txBody>
                    <a:bodyPr/>
                    <a:lstStyle/>
                    <a:p>
                      <a:pPr>
                        <a:buNone/>
                      </a:pPr>
                      <a:r>
                        <a:rPr lang="en-US" sz="1400" dirty="0"/>
                        <a:t>   </a:t>
                      </a:r>
                      <a:r>
                        <a:rPr lang="en-US" sz="2000" dirty="0">
                          <a:latin typeface="Times New Roman" panose="02020603050405020304" pitchFamily="18" charset="0"/>
                          <a:cs typeface="Times New Roman" panose="02020603050405020304" pitchFamily="18" charset="0"/>
                        </a:rPr>
                        <a:t>Starts with scanning an RFID card</a:t>
                      </a:r>
                      <a:r>
                        <a:rPr lang="en-US" sz="1400" dirty="0"/>
                        <a:t>.</a:t>
                      </a:r>
                      <a:endParaRPr lang="en-IN" sz="14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b="1" i="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Starts automatically with camera capturing student faces.</a:t>
                      </a:r>
                      <a:endParaRPr lang="en-US" sz="2000" b="1"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05247468"/>
                  </a:ext>
                </a:extLst>
              </a:tr>
              <a:tr h="954157">
                <a:tc>
                  <a:txBody>
                    <a:bodyPr/>
                    <a:lstStyle/>
                    <a:p>
                      <a:pPr>
                        <a:buNone/>
                      </a:pPr>
                      <a:r>
                        <a:rPr lang="en-IN" sz="1400" b="1">
                          <a:latin typeface="Times New Roman" panose="02020603050405020304" pitchFamily="18" charset="0"/>
                          <a:cs typeface="Times New Roman" panose="02020603050405020304" pitchFamily="18" charset="0"/>
                        </a:rPr>
                        <a:t>2.</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Two-step verification - RFID UID check + face match</a:t>
                      </a:r>
                      <a:endParaRPr lang="en-IN" sz="20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Single-step verification-face recognition only.</a:t>
                      </a:r>
                      <a:endParaRPr lang="en-US" sz="2000" b="1"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52731854"/>
                  </a:ext>
                </a:extLst>
              </a:tr>
              <a:tr h="874643">
                <a:tc>
                  <a:txBody>
                    <a:bodyPr/>
                    <a:lstStyle/>
                    <a:p>
                      <a:pPr>
                        <a:buNone/>
                      </a:pPr>
                      <a:r>
                        <a:rPr lang="en-IN" sz="1400" b="1">
                          <a:latin typeface="Times New Roman" panose="02020603050405020304" pitchFamily="18" charset="0"/>
                          <a:cs typeface="Times New Roman" panose="02020603050405020304" pitchFamily="18" charset="0"/>
                        </a:rPr>
                        <a:t>3.</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Slower due to two-step process, especially in large classrooms.</a:t>
                      </a:r>
                      <a:endParaRPr lang="en-IN" sz="20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Faster, can recognize multiple students in a single frame.</a:t>
                      </a:r>
                      <a:endParaRPr lang="en-US" sz="2000" b="1"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93193074"/>
                  </a:ext>
                </a:extLst>
              </a:tr>
              <a:tr h="983974">
                <a:tc>
                  <a:txBody>
                    <a:bodyPr/>
                    <a:lstStyle/>
                    <a:p>
                      <a:pPr>
                        <a:buNone/>
                      </a:pPr>
                      <a:r>
                        <a:rPr lang="en-IN" sz="1400" b="1" dirty="0">
                          <a:latin typeface="Times New Roman" panose="02020603050405020304" pitchFamily="18" charset="0"/>
                          <a:cs typeface="Times New Roman" panose="02020603050405020304" pitchFamily="18" charset="0"/>
                        </a:rPr>
                        <a:t>4.</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RFID cards can be lost or misused.</a:t>
                      </a:r>
                      <a:endParaRPr lang="en-IN" sz="20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No dependency on </a:t>
                      </a:r>
                      <a:r>
                        <a:rPr lang="en-US" sz="2000" dirty="0" err="1">
                          <a:latin typeface="Times New Roman" panose="02020603050405020304" pitchFamily="18" charset="0"/>
                          <a:cs typeface="Times New Roman" panose="02020603050405020304" pitchFamily="18" charset="0"/>
                        </a:rPr>
                        <a:t>cards,reduces</a:t>
                      </a:r>
                      <a:r>
                        <a:rPr lang="en-US" sz="2000" dirty="0">
                          <a:latin typeface="Times New Roman" panose="02020603050405020304" pitchFamily="18" charset="0"/>
                          <a:cs typeface="Times New Roman" panose="02020603050405020304" pitchFamily="18" charset="0"/>
                        </a:rPr>
                        <a:t> misuse.</a:t>
                      </a:r>
                      <a:endParaRPr lang="en-US" sz="2000" b="1"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24713158"/>
                  </a:ext>
                </a:extLst>
              </a:tr>
              <a:tr h="831099">
                <a:tc>
                  <a:txBody>
                    <a:bodyPr/>
                    <a:lstStyle/>
                    <a:p>
                      <a:pPr>
                        <a:buNone/>
                      </a:pPr>
                      <a:r>
                        <a:rPr lang="en-IN" sz="1400" b="1" dirty="0">
                          <a:latin typeface="Times New Roman" panose="02020603050405020304" pitchFamily="18" charset="0"/>
                          <a:cs typeface="Times New Roman" panose="02020603050405020304" pitchFamily="18" charset="0"/>
                        </a:rPr>
                        <a:t>5.</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Attendance is recorded or </a:t>
                      </a:r>
                      <a:r>
                        <a:rPr lang="en-US" sz="2000" dirty="0" err="1">
                          <a:latin typeface="Times New Roman" panose="02020603050405020304" pitchFamily="18" charset="0"/>
                          <a:cs typeface="Times New Roman" panose="02020603050405020304" pitchFamily="18" charset="0"/>
                        </a:rPr>
                        <a:t>rejected,no</a:t>
                      </a:r>
                      <a:r>
                        <a:rPr lang="en-US" sz="2000" dirty="0">
                          <a:latin typeface="Times New Roman" panose="02020603050405020304" pitchFamily="18" charset="0"/>
                          <a:cs typeface="Times New Roman" panose="02020603050405020304" pitchFamily="18" charset="0"/>
                        </a:rPr>
                        <a:t> instant notifications.</a:t>
                      </a:r>
                      <a:endParaRPr lang="en-IN" sz="2000" b="1"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Automatic attendance is recorded and parents are notified of absentees.</a:t>
                      </a:r>
                      <a:endParaRPr lang="en-US" sz="2000" b="1" i="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96405672"/>
                  </a:ext>
                </a:extLst>
              </a:tr>
            </a:tbl>
          </a:graphicData>
        </a:graphic>
      </p:graphicFrame>
      <p:sp>
        <p:nvSpPr>
          <p:cNvPr id="5" name="Title 1">
            <a:extLst>
              <a:ext uri="{FF2B5EF4-FFF2-40B4-BE49-F238E27FC236}">
                <a16:creationId xmlns:a16="http://schemas.microsoft.com/office/drawing/2014/main" id="{80A5E11A-837C-CC1A-2605-437ABFD0A139}"/>
              </a:ext>
            </a:extLst>
          </p:cNvPr>
          <p:cNvSpPr txBox="1">
            <a:spLocks/>
          </p:cNvSpPr>
          <p:nvPr/>
        </p:nvSpPr>
        <p:spPr>
          <a:xfrm>
            <a:off x="11704982" y="6488747"/>
            <a:ext cx="410817" cy="369253"/>
          </a:xfrm>
          <a:prstGeom prst="rect">
            <a:avLst/>
          </a:prstGeom>
        </p:spPr>
        <p:txBody>
          <a:bodyPr wrap="square" anchor="b">
            <a:normAutofit fontScale="85000" lnSpcReduction="10000"/>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16</a:t>
            </a:r>
          </a:p>
        </p:txBody>
      </p:sp>
      <p:sp>
        <p:nvSpPr>
          <p:cNvPr id="6" name="Title 1">
            <a:extLst>
              <a:ext uri="{FF2B5EF4-FFF2-40B4-BE49-F238E27FC236}">
                <a16:creationId xmlns:a16="http://schemas.microsoft.com/office/drawing/2014/main" id="{ED3B6BBC-F2B3-5701-A6F7-CFDD05F36A13}"/>
              </a:ext>
            </a:extLst>
          </p:cNvPr>
          <p:cNvSpPr txBox="1">
            <a:spLocks/>
          </p:cNvSpPr>
          <p:nvPr/>
        </p:nvSpPr>
        <p:spPr>
          <a:xfrm>
            <a:off x="221975" y="6124536"/>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spTree>
    <p:extLst>
      <p:ext uri="{BB962C8B-B14F-4D97-AF65-F5344CB8AC3E}">
        <p14:creationId xmlns:p14="http://schemas.microsoft.com/office/powerpoint/2010/main" val="3998446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064F2-150F-F2DA-8332-1C8B6C97A5E6}"/>
              </a:ext>
            </a:extLst>
          </p:cNvPr>
          <p:cNvSpPr txBox="1">
            <a:spLocks/>
          </p:cNvSpPr>
          <p:nvPr/>
        </p:nvSpPr>
        <p:spPr>
          <a:xfrm>
            <a:off x="1123122" y="365126"/>
            <a:ext cx="10396330" cy="648666"/>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sz="3000" b="1" dirty="0"/>
              <a:t>                              </a:t>
            </a:r>
            <a:r>
              <a:rPr lang="en-IN" sz="3000" b="1"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97844FD9-08EE-19AA-53F6-62C9154DAA13}"/>
              </a:ext>
            </a:extLst>
          </p:cNvPr>
          <p:cNvSpPr txBox="1"/>
          <p:nvPr/>
        </p:nvSpPr>
        <p:spPr>
          <a:xfrm>
            <a:off x="934279" y="1461052"/>
            <a:ext cx="10774016" cy="2215991"/>
          </a:xfrm>
          <a:prstGeom prst="rect">
            <a:avLst/>
          </a:prstGeom>
          <a:noFill/>
        </p:spPr>
        <p:txBody>
          <a:bodyPr wrap="square">
            <a:spAutoFit/>
          </a:bodyPr>
          <a:lstStyle/>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project develops an IoT and ML-powered Smart Vision-Based Attendance System that provides an efficient and accurate way to manage attendance through real-time monitoring.</a:t>
            </a:r>
          </a:p>
          <a:p>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Overall, the project demonstrates how IoT and machine learning can enable smart, automated systems that enhance accuracy</a:t>
            </a:r>
            <a:r>
              <a:rPr lang="en-US" sz="2000">
                <a:latin typeface="Times New Roman" panose="02020603050405020304" pitchFamily="18" charset="0"/>
                <a:cs typeface="Times New Roman" panose="02020603050405020304" pitchFamily="18" charset="0"/>
              </a:rPr>
              <a:t>, security and </a:t>
            </a:r>
            <a:r>
              <a:rPr lang="en-US" sz="2000" dirty="0">
                <a:latin typeface="Times New Roman" panose="02020603050405020304" pitchFamily="18" charset="0"/>
                <a:cs typeface="Times New Roman" panose="02020603050405020304" pitchFamily="18" charset="0"/>
              </a:rPr>
              <a:t>operational efficiency.</a:t>
            </a: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p>
        </p:txBody>
      </p:sp>
      <p:sp>
        <p:nvSpPr>
          <p:cNvPr id="4" name="Title 1">
            <a:extLst>
              <a:ext uri="{FF2B5EF4-FFF2-40B4-BE49-F238E27FC236}">
                <a16:creationId xmlns:a16="http://schemas.microsoft.com/office/drawing/2014/main" id="{BD7FEAFA-FCD2-C281-4CC0-F9E21B1E761E}"/>
              </a:ext>
            </a:extLst>
          </p:cNvPr>
          <p:cNvSpPr txBox="1">
            <a:spLocks/>
          </p:cNvSpPr>
          <p:nvPr/>
        </p:nvSpPr>
        <p:spPr>
          <a:xfrm>
            <a:off x="221975" y="6124536"/>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sp>
        <p:nvSpPr>
          <p:cNvPr id="5" name="Title 1">
            <a:extLst>
              <a:ext uri="{FF2B5EF4-FFF2-40B4-BE49-F238E27FC236}">
                <a16:creationId xmlns:a16="http://schemas.microsoft.com/office/drawing/2014/main" id="{EABDF598-442D-2EFF-8E95-20346A4D4F8B}"/>
              </a:ext>
            </a:extLst>
          </p:cNvPr>
          <p:cNvSpPr txBox="1">
            <a:spLocks/>
          </p:cNvSpPr>
          <p:nvPr/>
        </p:nvSpPr>
        <p:spPr>
          <a:xfrm>
            <a:off x="11618843" y="6370983"/>
            <a:ext cx="467140" cy="440632"/>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17</a:t>
            </a:r>
          </a:p>
        </p:txBody>
      </p:sp>
    </p:spTree>
    <p:extLst>
      <p:ext uri="{BB962C8B-B14F-4D97-AF65-F5344CB8AC3E}">
        <p14:creationId xmlns:p14="http://schemas.microsoft.com/office/powerpoint/2010/main" val="615894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5234D-C14C-11B9-B77F-AC4DC22AE3AC}"/>
              </a:ext>
            </a:extLst>
          </p:cNvPr>
          <p:cNvSpPr txBox="1">
            <a:spLocks/>
          </p:cNvSpPr>
          <p:nvPr/>
        </p:nvSpPr>
        <p:spPr>
          <a:xfrm>
            <a:off x="1133061" y="198785"/>
            <a:ext cx="10396330" cy="705675"/>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sz="3000" b="1" dirty="0"/>
              <a:t>                              </a:t>
            </a:r>
            <a:r>
              <a:rPr lang="en-IN" sz="3000" b="1" dirty="0">
                <a:latin typeface="Times New Roman" panose="02020603050405020304" pitchFamily="18" charset="0"/>
                <a:cs typeface="Times New Roman" panose="02020603050405020304" pitchFamily="18" charset="0"/>
              </a:rPr>
              <a:t>REFERENCES</a:t>
            </a:r>
          </a:p>
        </p:txBody>
      </p:sp>
      <p:sp>
        <p:nvSpPr>
          <p:cNvPr id="3" name="TextBox 2">
            <a:extLst>
              <a:ext uri="{FF2B5EF4-FFF2-40B4-BE49-F238E27FC236}">
                <a16:creationId xmlns:a16="http://schemas.microsoft.com/office/drawing/2014/main" id="{3F214664-F2FF-53DF-A4E8-19B19070FE1C}"/>
              </a:ext>
            </a:extLst>
          </p:cNvPr>
          <p:cNvSpPr txBox="1"/>
          <p:nvPr/>
        </p:nvSpPr>
        <p:spPr>
          <a:xfrm>
            <a:off x="1013792" y="904461"/>
            <a:ext cx="10605052" cy="4708981"/>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[1]N. </a:t>
            </a:r>
            <a:r>
              <a:rPr lang="en-US" sz="2000" dirty="0" err="1">
                <a:latin typeface="Times New Roman" panose="02020603050405020304" pitchFamily="18" charset="0"/>
                <a:cs typeface="Times New Roman" panose="02020603050405020304" pitchFamily="18" charset="0"/>
              </a:rPr>
              <a:t>Thaleeparambil</a:t>
            </a:r>
            <a:r>
              <a:rPr lang="en-US" sz="2000" dirty="0">
                <a:latin typeface="Times New Roman" panose="02020603050405020304" pitchFamily="18" charset="0"/>
                <a:cs typeface="Times New Roman" panose="02020603050405020304" pitchFamily="18" charset="0"/>
              </a:rPr>
              <a:t>, A. Biju, and B. Prathap, “Integrated Automated Attendance System with RFID, Wi-Fi, and Visual Recognition Technology for Enhanced Classroom Security and Precise Monitoring,” in Proc. IEEE InC4, 2024.</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[2] D. V. Darshan, et al., “IoT-Based Attendance Monitoring with Facial Recognition,” in Proc. IEEE Int. Conf. on Advanced Information Technology (ICAIT), 2024.</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[3] A. Raj, et al., “Facial Recognition-Based Student Attendance System,” in Proc. IEEE Int. Conf. on Recent Innovations in Technology and Optimization (ICRITO), 2024.</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[4]G. Ramani, et al., “Smart Attendance System Using IoT,” in Proc. IEEE Int. Conf. on Communication and Computational Systems (ICCCS), 2023.</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[5]</a:t>
            </a:r>
            <a:r>
              <a:rPr lang="en-IN" sz="2000" dirty="0">
                <a:latin typeface="Times New Roman" panose="02020603050405020304" pitchFamily="18" charset="0"/>
                <a:cs typeface="Times New Roman" panose="02020603050405020304" pitchFamily="18" charset="0"/>
              </a:rPr>
              <a:t>N. Ramakrishnan, A. Ajil, A. Ali, A. Meenakshi Sundaram, and V. Sanju, “Wi-Fi Based Smart Attendance Monitoring System,” in Proc. IEEE CSITSS, 2023</a:t>
            </a:r>
            <a:r>
              <a:rPr lang="en-US" sz="2000" dirty="0">
                <a:latin typeface="Times New Roman" panose="02020603050405020304" pitchFamily="18" charset="0"/>
                <a:cs typeface="Times New Roman" panose="02020603050405020304" pitchFamily="18" charset="0"/>
              </a:rPr>
              <a:t>.</a:t>
            </a:r>
          </a:p>
        </p:txBody>
      </p:sp>
      <p:sp>
        <p:nvSpPr>
          <p:cNvPr id="4" name="Title 1">
            <a:extLst>
              <a:ext uri="{FF2B5EF4-FFF2-40B4-BE49-F238E27FC236}">
                <a16:creationId xmlns:a16="http://schemas.microsoft.com/office/drawing/2014/main" id="{FCAB55E9-D059-E8D4-3169-496E1D47CFF3}"/>
              </a:ext>
            </a:extLst>
          </p:cNvPr>
          <p:cNvSpPr txBox="1">
            <a:spLocks/>
          </p:cNvSpPr>
          <p:nvPr/>
        </p:nvSpPr>
        <p:spPr>
          <a:xfrm>
            <a:off x="221975" y="6124536"/>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sp>
        <p:nvSpPr>
          <p:cNvPr id="5" name="Title 1">
            <a:extLst>
              <a:ext uri="{FF2B5EF4-FFF2-40B4-BE49-F238E27FC236}">
                <a16:creationId xmlns:a16="http://schemas.microsoft.com/office/drawing/2014/main" id="{7C6EAEC9-D4D5-0782-CF0E-69DF8BE44640}"/>
              </a:ext>
            </a:extLst>
          </p:cNvPr>
          <p:cNvSpPr txBox="1">
            <a:spLocks/>
          </p:cNvSpPr>
          <p:nvPr/>
        </p:nvSpPr>
        <p:spPr>
          <a:xfrm>
            <a:off x="11618843" y="6370983"/>
            <a:ext cx="467140" cy="440632"/>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18</a:t>
            </a:r>
          </a:p>
        </p:txBody>
      </p:sp>
    </p:spTree>
    <p:extLst>
      <p:ext uri="{BB962C8B-B14F-4D97-AF65-F5344CB8AC3E}">
        <p14:creationId xmlns:p14="http://schemas.microsoft.com/office/powerpoint/2010/main" val="17502402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8FD96-A12B-1BF8-10CA-F242FC5C6BDE}"/>
              </a:ext>
            </a:extLst>
          </p:cNvPr>
          <p:cNvSpPr txBox="1">
            <a:spLocks/>
          </p:cNvSpPr>
          <p:nvPr/>
        </p:nvSpPr>
        <p:spPr>
          <a:xfrm>
            <a:off x="1133061" y="198785"/>
            <a:ext cx="10396330" cy="705675"/>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sz="3000" b="1" dirty="0"/>
              <a:t>                          </a:t>
            </a:r>
            <a:r>
              <a:rPr lang="en-IN" sz="3000" b="1" dirty="0">
                <a:latin typeface="Times New Roman" panose="02020603050405020304" pitchFamily="18" charset="0"/>
                <a:cs typeface="Times New Roman" panose="02020603050405020304" pitchFamily="18" charset="0"/>
              </a:rPr>
              <a:t>EXECUTION VIDEO LINK</a:t>
            </a:r>
          </a:p>
        </p:txBody>
      </p:sp>
      <p:sp>
        <p:nvSpPr>
          <p:cNvPr id="4" name="Title 1">
            <a:extLst>
              <a:ext uri="{FF2B5EF4-FFF2-40B4-BE49-F238E27FC236}">
                <a16:creationId xmlns:a16="http://schemas.microsoft.com/office/drawing/2014/main" id="{216AC6E6-43E1-4BC4-58C4-66FF28A2B307}"/>
              </a:ext>
            </a:extLst>
          </p:cNvPr>
          <p:cNvSpPr txBox="1">
            <a:spLocks/>
          </p:cNvSpPr>
          <p:nvPr/>
        </p:nvSpPr>
        <p:spPr>
          <a:xfrm>
            <a:off x="11704982" y="6488747"/>
            <a:ext cx="410817" cy="369253"/>
          </a:xfrm>
          <a:prstGeom prst="rect">
            <a:avLst/>
          </a:prstGeom>
        </p:spPr>
        <p:txBody>
          <a:bodyPr wrap="square" anchor="b">
            <a:normAutofit fontScale="85000" lnSpcReduction="10000"/>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19</a:t>
            </a:r>
          </a:p>
        </p:txBody>
      </p:sp>
      <p:sp>
        <p:nvSpPr>
          <p:cNvPr id="5" name="Title 1">
            <a:extLst>
              <a:ext uri="{FF2B5EF4-FFF2-40B4-BE49-F238E27FC236}">
                <a16:creationId xmlns:a16="http://schemas.microsoft.com/office/drawing/2014/main" id="{C9C9DCB4-9C39-22F0-F103-96C0DF220F1D}"/>
              </a:ext>
            </a:extLst>
          </p:cNvPr>
          <p:cNvSpPr txBox="1">
            <a:spLocks/>
          </p:cNvSpPr>
          <p:nvPr/>
        </p:nvSpPr>
        <p:spPr>
          <a:xfrm>
            <a:off x="221975" y="6124536"/>
            <a:ext cx="2839278" cy="534679"/>
          </a:xfrm>
          <a:prstGeom prst="rect">
            <a:avLst/>
          </a:prstGeom>
        </p:spPr>
        <p:txBody>
          <a:bodyPr wrap="square" anchor="b">
            <a:norm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Date:25-02-2026</a:t>
            </a:r>
          </a:p>
        </p:txBody>
      </p:sp>
      <p:sp>
        <p:nvSpPr>
          <p:cNvPr id="3" name="Title 1">
            <a:extLst>
              <a:ext uri="{FF2B5EF4-FFF2-40B4-BE49-F238E27FC236}">
                <a16:creationId xmlns:a16="http://schemas.microsoft.com/office/drawing/2014/main" id="{B0650A3C-2133-75BC-F3CD-3EDD2A008E0B}"/>
              </a:ext>
            </a:extLst>
          </p:cNvPr>
          <p:cNvSpPr txBox="1">
            <a:spLocks/>
          </p:cNvSpPr>
          <p:nvPr/>
        </p:nvSpPr>
        <p:spPr>
          <a:xfrm>
            <a:off x="1540565" y="2902580"/>
            <a:ext cx="9471992" cy="806409"/>
          </a:xfrm>
          <a:prstGeom prst="rect">
            <a:avLst/>
          </a:prstGeom>
        </p:spPr>
        <p:txBody>
          <a:bodyPr wrap="square" anchor="b">
            <a:noAutofit/>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endParaRPr lang="en-US" sz="1400" dirty="0">
              <a:latin typeface="Arial Black" panose="020B0A04020102020204" pitchFamily="34" charset="0"/>
              <a:cs typeface="Times New Roman" panose="02020603050405020304" pitchFamily="18" charset="0"/>
            </a:endParaRPr>
          </a:p>
          <a:p>
            <a:r>
              <a:rPr lang="en-US" sz="1400" dirty="0">
                <a:latin typeface="Arial Black" panose="020B0A04020102020204" pitchFamily="34" charset="0"/>
                <a:cs typeface="Times New Roman" panose="02020603050405020304" pitchFamily="18" charset="0"/>
                <a:hlinkClick r:id="rId2"/>
              </a:rPr>
              <a:t>https://drive.google.com/file/d/1IPEvl9DWOL4ycBJFg3MwOF5nne3dIawR/view?usp=sharing</a:t>
            </a:r>
            <a:endParaRPr lang="en-US" sz="1400" dirty="0">
              <a:latin typeface="Arial Black" panose="020B0A04020102020204" pitchFamily="34" charset="0"/>
              <a:cs typeface="Times New Roman" panose="02020603050405020304" pitchFamily="18" charset="0"/>
            </a:endParaRPr>
          </a:p>
        </p:txBody>
      </p:sp>
      <p:sp>
        <p:nvSpPr>
          <p:cNvPr id="6" name="Title 1">
            <a:extLst>
              <a:ext uri="{FF2B5EF4-FFF2-40B4-BE49-F238E27FC236}">
                <a16:creationId xmlns:a16="http://schemas.microsoft.com/office/drawing/2014/main" id="{FFE7C71A-ABF0-35F7-1D3A-ED7750824298}"/>
              </a:ext>
            </a:extLst>
          </p:cNvPr>
          <p:cNvSpPr txBox="1">
            <a:spLocks/>
          </p:cNvSpPr>
          <p:nvPr/>
        </p:nvSpPr>
        <p:spPr>
          <a:xfrm>
            <a:off x="1540566" y="4382083"/>
            <a:ext cx="8418444" cy="534679"/>
          </a:xfrm>
          <a:prstGeom prst="rect">
            <a:avLst/>
          </a:prstGeom>
        </p:spPr>
        <p:txBody>
          <a:bodyPr wrap="square" anchor="b">
            <a:normAutofit fontScale="85000" lnSpcReduction="20000"/>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US" sz="2000" dirty="0">
                <a:latin typeface="Times New Roman" panose="02020603050405020304" pitchFamily="18" charset="0"/>
                <a:cs typeface="Times New Roman" panose="02020603050405020304" pitchFamily="18" charset="0"/>
              </a:rPr>
              <a:t>The above link presents the project of Smart Vision Based Attendance System Using IoT and ML With Real Time Notifications</a:t>
            </a:r>
          </a:p>
        </p:txBody>
      </p:sp>
    </p:spTree>
    <p:extLst>
      <p:ext uri="{BB962C8B-B14F-4D97-AF65-F5344CB8AC3E}">
        <p14:creationId xmlns:p14="http://schemas.microsoft.com/office/powerpoint/2010/main" val="198032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4355E-2959-D949-6D11-C3CFEFBCD970}"/>
              </a:ext>
            </a:extLst>
          </p:cNvPr>
          <p:cNvSpPr txBox="1">
            <a:spLocks/>
          </p:cNvSpPr>
          <p:nvPr/>
        </p:nvSpPr>
        <p:spPr>
          <a:xfrm>
            <a:off x="1709529" y="2743200"/>
            <a:ext cx="8656984" cy="854765"/>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b="1" dirty="0">
                <a:latin typeface="Bodoni MT Black" panose="02070A03080606020203" pitchFamily="18" charset="0"/>
              </a:rPr>
              <a:t>                 </a:t>
            </a:r>
            <a:r>
              <a:rPr lang="en-IN" sz="4400" b="1" dirty="0">
                <a:latin typeface="Bookman Old Style" panose="02050604050505020204" pitchFamily="18" charset="0"/>
              </a:rPr>
              <a:t>ANY QUERIES?</a:t>
            </a:r>
            <a:endParaRPr lang="en-IN" sz="4400" b="1" dirty="0">
              <a:latin typeface="Bookman Old Style" panose="02050604050505020204" pitchFamily="18" charset="0"/>
              <a:cs typeface="Times New Roman" panose="02020603050405020304" pitchFamily="18" charset="0"/>
            </a:endParaRPr>
          </a:p>
        </p:txBody>
      </p:sp>
    </p:spTree>
    <p:extLst>
      <p:ext uri="{BB962C8B-B14F-4D97-AF65-F5344CB8AC3E}">
        <p14:creationId xmlns:p14="http://schemas.microsoft.com/office/powerpoint/2010/main" val="1082123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5D17C0F-62C4-6548-04C9-E8716CB7BE60}"/>
              </a:ext>
            </a:extLst>
          </p:cNvPr>
          <p:cNvSpPr txBox="1">
            <a:spLocks/>
          </p:cNvSpPr>
          <p:nvPr/>
        </p:nvSpPr>
        <p:spPr>
          <a:xfrm>
            <a:off x="1709529" y="2743200"/>
            <a:ext cx="8656984" cy="854765"/>
          </a:xfrm>
          <a:prstGeom prst="rect">
            <a:avLst/>
          </a:prstGeom>
        </p:spPr>
        <p:txBody>
          <a:bodyPr/>
          <a:lstStyle>
            <a:lvl1pPr algn="l" defTabSz="914400" rtl="0" eaLnBrk="1" latinLnBrk="0" hangingPunct="1">
              <a:lnSpc>
                <a:spcPct val="100000"/>
              </a:lnSpc>
              <a:spcBef>
                <a:spcPct val="0"/>
              </a:spcBef>
              <a:buNone/>
              <a:defRPr sz="3200" kern="1200" cap="none" spc="0" baseline="0">
                <a:solidFill>
                  <a:schemeClr val="tx1"/>
                </a:solidFill>
                <a:latin typeface="+mj-lt"/>
                <a:ea typeface="+mj-ea"/>
                <a:cs typeface="+mj-cs"/>
              </a:defRPr>
            </a:lvl1pPr>
          </a:lstStyle>
          <a:p>
            <a:r>
              <a:rPr lang="en-IN" b="1" dirty="0">
                <a:latin typeface="Bodoni MT Black" panose="02070A03080606020203" pitchFamily="18" charset="0"/>
              </a:rPr>
              <a:t>                 </a:t>
            </a:r>
            <a:r>
              <a:rPr lang="en-IN" sz="4400" b="1" dirty="0">
                <a:latin typeface="Bookman Old Style" panose="02050604050505020204" pitchFamily="18" charset="0"/>
              </a:rPr>
              <a:t>THANK YOU!</a:t>
            </a:r>
            <a:endParaRPr lang="en-IN" sz="4400" b="1" dirty="0">
              <a:latin typeface="Bookman Old Style" panose="02050604050505020204" pitchFamily="18" charset="0"/>
              <a:cs typeface="Times New Roman" panose="02020603050405020304" pitchFamily="18" charset="0"/>
            </a:endParaRPr>
          </a:p>
        </p:txBody>
      </p:sp>
    </p:spTree>
    <p:extLst>
      <p:ext uri="{BB962C8B-B14F-4D97-AF65-F5344CB8AC3E}">
        <p14:creationId xmlns:p14="http://schemas.microsoft.com/office/powerpoint/2010/main" val="2872071196"/>
      </p:ext>
    </p:extLst>
  </p:cSld>
  <p:clrMapOvr>
    <a:masterClrMapping/>
  </p:clrMapOvr>
</p:sld>
</file>

<file path=ppt/theme/theme1.xml><?xml version="1.0" encoding="utf-8"?>
<a:theme xmlns:a="http://schemas.openxmlformats.org/drawingml/2006/main" name="FrostyVTI">
  <a:themeElements>
    <a:clrScheme name="Frosty">
      <a:dk1>
        <a:sysClr val="windowText" lastClr="000000"/>
      </a:dk1>
      <a:lt1>
        <a:sysClr val="window" lastClr="FFFFFF"/>
      </a:lt1>
      <a:dk2>
        <a:srgbClr val="0B2827"/>
      </a:dk2>
      <a:lt2>
        <a:srgbClr val="DAE3E3"/>
      </a:lt2>
      <a:accent1>
        <a:srgbClr val="767E37"/>
      </a:accent1>
      <a:accent2>
        <a:srgbClr val="B495C2"/>
      </a:accent2>
      <a:accent3>
        <a:srgbClr val="8FA3A3"/>
      </a:accent3>
      <a:accent4>
        <a:srgbClr val="CE7F01"/>
      </a:accent4>
      <a:accent5>
        <a:srgbClr val="D15A29"/>
      </a:accent5>
      <a:accent6>
        <a:srgbClr val="B88470"/>
      </a:accent6>
      <a:hlink>
        <a:srgbClr val="B57001"/>
      </a:hlink>
      <a:folHlink>
        <a:srgbClr val="996209"/>
      </a:folHlink>
    </a:clrScheme>
    <a:fontScheme name="Frosted Leaf">
      <a:majorFont>
        <a:latin typeface="Goudy Old Style"/>
        <a:ea typeface=""/>
        <a:cs typeface=""/>
      </a:majorFont>
      <a:minorFont>
        <a:latin typeface="Avenir Next LT Pr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rostyVTI" id="{DD283BC3-E0B6-4E4B-91CF-F0F54D51BB21}" vid="{3EE220F7-F497-4893-BE1F-7BB1D60742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1860</TotalTime>
  <Words>1814</Words>
  <Application>Microsoft Office PowerPoint</Application>
  <PresentationFormat>Widescreen</PresentationFormat>
  <Paragraphs>289</Paragraphs>
  <Slides>23</Slides>
  <Notes>11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23</vt:i4>
      </vt:variant>
    </vt:vector>
  </HeadingPairs>
  <TitlesOfParts>
    <vt:vector size="35" baseType="lpstr">
      <vt:lpstr>Arial</vt:lpstr>
      <vt:lpstr>Arial Black</vt:lpstr>
      <vt:lpstr>Avenir Next LT Pro</vt:lpstr>
      <vt:lpstr>Bahnschrift SemiBold SemiConden</vt:lpstr>
      <vt:lpstr>Bodoni MT Black</vt:lpstr>
      <vt:lpstr>Bookman Old Style</vt:lpstr>
      <vt:lpstr>Calibri</vt:lpstr>
      <vt:lpstr>Goudy Old Style</vt:lpstr>
      <vt:lpstr>Sitka Banner Semibold</vt:lpstr>
      <vt:lpstr>Times New Roman</vt:lpstr>
      <vt:lpstr>Wingdings</vt:lpstr>
      <vt:lpstr>FrostyVTI</vt:lpstr>
      <vt:lpstr>    SESHADRI RAO GUDLAVALLERU ENGINEERING COLLEGE (An Autonomous Institute with Permanent Affiliation to JNTUK, Kakinada)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Poojitha Valluripalli</dc:creator>
  <cp:lastModifiedBy>Sowmya sri ganapavarapu</cp:lastModifiedBy>
  <cp:revision>5</cp:revision>
  <dcterms:created xsi:type="dcterms:W3CDTF">2025-09-16T10:51:02Z</dcterms:created>
  <dcterms:modified xsi:type="dcterms:W3CDTF">2026-02-25T05:23:50Z</dcterms:modified>
</cp:coreProperties>
</file>